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B6B6A-EF2F-48BD-B40B-A9C6F17079D4}" v="4" dt="2026-05-18T14:35:38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172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as Duranti" userId="3ef7e7ee-90ac-4f2f-95b4-3fa726761eac" providerId="ADAL" clId="{22B82116-6912-4666-81AF-7E26BF632024}"/>
    <pc:docChg chg="undo custSel modSld">
      <pc:chgData name="Matthias Duranti" userId="3ef7e7ee-90ac-4f2f-95b4-3fa726761eac" providerId="ADAL" clId="{22B82116-6912-4666-81AF-7E26BF632024}" dt="2026-05-18T14:40:50.305" v="60" actId="1076"/>
      <pc:docMkLst>
        <pc:docMk/>
      </pc:docMkLst>
      <pc:sldChg chg="modSp mod">
        <pc:chgData name="Matthias Duranti" userId="3ef7e7ee-90ac-4f2f-95b4-3fa726761eac" providerId="ADAL" clId="{22B82116-6912-4666-81AF-7E26BF632024}" dt="2026-05-18T14:22:36.942" v="17" actId="12789"/>
        <pc:sldMkLst>
          <pc:docMk/>
          <pc:sldMk cId="1635230886" sldId="259"/>
        </pc:sldMkLst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7" creationId="{5062436C-386E-40C5-8192-777F33D1EEB0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11" creationId="{4330F816-1DC6-4E80-B6C4-FEC2BD394E2B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15" creationId="{CB281DCE-0DBA-49B0-A6AB-5718E3B829A9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19" creationId="{100D2E78-7A8E-4936-912E-0A72A4D6940C}"/>
          </ac:spMkLst>
        </pc:spChg>
        <pc:spChg chg="mod">
          <ac:chgData name="Matthias Duranti" userId="3ef7e7ee-90ac-4f2f-95b4-3fa726761eac" providerId="ADAL" clId="{22B82116-6912-4666-81AF-7E26BF632024}" dt="2026-05-18T14:21:27.950" v="10" actId="12788"/>
          <ac:spMkLst>
            <pc:docMk/>
            <pc:sldMk cId="1635230886" sldId="259"/>
            <ac:spMk id="22" creationId="{5C75AA39-A096-430D-8723-C92068F7475C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23" creationId="{802F1489-272A-4FC0-9581-DB0864A62115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27" creationId="{4B018A3C-421C-4A96-93A4-1F8930477B93}"/>
          </ac:spMkLst>
        </pc:spChg>
        <pc:spChg chg="mod">
          <ac:chgData name="Matthias Duranti" userId="3ef7e7ee-90ac-4f2f-95b4-3fa726761eac" providerId="ADAL" clId="{22B82116-6912-4666-81AF-7E26BF632024}" dt="2026-05-18T14:22:36.942" v="17" actId="12789"/>
          <ac:spMkLst>
            <pc:docMk/>
            <pc:sldMk cId="1635230886" sldId="259"/>
            <ac:spMk id="31" creationId="{0DE5FB1B-D50A-44C0-B314-EA4C9D024C67}"/>
          </ac:spMkLst>
        </pc:spChg>
        <pc:spChg chg="mod">
          <ac:chgData name="Matthias Duranti" userId="3ef7e7ee-90ac-4f2f-95b4-3fa726761eac" providerId="ADAL" clId="{22B82116-6912-4666-81AF-7E26BF632024}" dt="2026-05-18T14:21:27.950" v="10" actId="12788"/>
          <ac:spMkLst>
            <pc:docMk/>
            <pc:sldMk cId="1635230886" sldId="259"/>
            <ac:spMk id="37" creationId="{5A1EDD9B-A4DC-4DD2-9961-1F846D04828A}"/>
          </ac:spMkLst>
        </pc:spChg>
      </pc:sldChg>
      <pc:sldChg chg="addSp delSp modSp mod">
        <pc:chgData name="Matthias Duranti" userId="3ef7e7ee-90ac-4f2f-95b4-3fa726761eac" providerId="ADAL" clId="{22B82116-6912-4666-81AF-7E26BF632024}" dt="2026-05-18T14:37:37.212" v="53" actId="14100"/>
        <pc:sldMkLst>
          <pc:docMk/>
          <pc:sldMk cId="517774276" sldId="262"/>
        </pc:sldMkLst>
        <pc:spChg chg="mod">
          <ac:chgData name="Matthias Duranti" userId="3ef7e7ee-90ac-4f2f-95b4-3fa726761eac" providerId="ADAL" clId="{22B82116-6912-4666-81AF-7E26BF632024}" dt="2026-05-18T14:34:17.679" v="21" actId="1076"/>
          <ac:spMkLst>
            <pc:docMk/>
            <pc:sldMk cId="517774276" sldId="262"/>
            <ac:spMk id="5" creationId="{9E2544ED-29F5-416F-B9E7-3A520985E792}"/>
          </ac:spMkLst>
        </pc:spChg>
        <pc:spChg chg="mod">
          <ac:chgData name="Matthias Duranti" userId="3ef7e7ee-90ac-4f2f-95b4-3fa726761eac" providerId="ADAL" clId="{22B82116-6912-4666-81AF-7E26BF632024}" dt="2026-05-18T14:34:17.679" v="21" actId="1076"/>
          <ac:spMkLst>
            <pc:docMk/>
            <pc:sldMk cId="517774276" sldId="262"/>
            <ac:spMk id="6" creationId="{0E866556-B062-4957-8E03-77FAB70B78EF}"/>
          </ac:spMkLst>
        </pc:spChg>
        <pc:spChg chg="mod">
          <ac:chgData name="Matthias Duranti" userId="3ef7e7ee-90ac-4f2f-95b4-3fa726761eac" providerId="ADAL" clId="{22B82116-6912-4666-81AF-7E26BF632024}" dt="2026-05-18T14:34:17.679" v="21" actId="1076"/>
          <ac:spMkLst>
            <pc:docMk/>
            <pc:sldMk cId="517774276" sldId="262"/>
            <ac:spMk id="7" creationId="{26983C35-631A-41B3-A165-3D00CF20DF64}"/>
          </ac:spMkLst>
        </pc:spChg>
        <pc:spChg chg="add del">
          <ac:chgData name="Matthias Duranti" userId="3ef7e7ee-90ac-4f2f-95b4-3fa726761eac" providerId="ADAL" clId="{22B82116-6912-4666-81AF-7E26BF632024}" dt="2026-05-18T14:36:48.664" v="45" actId="21"/>
          <ac:spMkLst>
            <pc:docMk/>
            <pc:sldMk cId="517774276" sldId="262"/>
            <ac:spMk id="8" creationId="{B5805C36-FE73-42FB-80D8-5AB45102CFF4}"/>
          </ac:spMkLst>
        </pc:spChg>
        <pc:spChg chg="ord">
          <ac:chgData name="Matthias Duranti" userId="3ef7e7ee-90ac-4f2f-95b4-3fa726761eac" providerId="ADAL" clId="{22B82116-6912-4666-81AF-7E26BF632024}" dt="2026-05-18T14:36:38.352" v="42" actId="166"/>
          <ac:spMkLst>
            <pc:docMk/>
            <pc:sldMk cId="517774276" sldId="262"/>
            <ac:spMk id="9" creationId="{B9939425-C049-4CB9-9C81-905B8BDFC6E5}"/>
          </ac:spMkLst>
        </pc:spChg>
        <pc:spChg chg="mod">
          <ac:chgData name="Matthias Duranti" userId="3ef7e7ee-90ac-4f2f-95b4-3fa726761eac" providerId="ADAL" clId="{22B82116-6912-4666-81AF-7E26BF632024}" dt="2026-05-18T14:37:31.863" v="52" actId="14100"/>
          <ac:spMkLst>
            <pc:docMk/>
            <pc:sldMk cId="517774276" sldId="262"/>
            <ac:spMk id="12" creationId="{EC8D38E8-7578-4CAF-B743-6E320BB11B54}"/>
          </ac:spMkLst>
        </pc:spChg>
        <pc:spChg chg="ord">
          <ac:chgData name="Matthias Duranti" userId="3ef7e7ee-90ac-4f2f-95b4-3fa726761eac" providerId="ADAL" clId="{22B82116-6912-4666-81AF-7E26BF632024}" dt="2026-05-18T14:37:18.040" v="51" actId="171"/>
          <ac:spMkLst>
            <pc:docMk/>
            <pc:sldMk cId="517774276" sldId="262"/>
            <ac:spMk id="14" creationId="{44D2E9A3-170E-4DD2-BE5D-6AEFEBA12B54}"/>
          </ac:spMkLst>
        </pc:spChg>
        <pc:spChg chg="mod ord">
          <ac:chgData name="Matthias Duranti" userId="3ef7e7ee-90ac-4f2f-95b4-3fa726761eac" providerId="ADAL" clId="{22B82116-6912-4666-81AF-7E26BF632024}" dt="2026-05-18T14:37:37.212" v="53" actId="14100"/>
          <ac:spMkLst>
            <pc:docMk/>
            <pc:sldMk cId="517774276" sldId="262"/>
            <ac:spMk id="17" creationId="{2B6969BB-6E84-46CA-92D5-F5290E37F0CC}"/>
          </ac:spMkLst>
        </pc:spChg>
        <pc:spChg chg="mod">
          <ac:chgData name="Matthias Duranti" userId="3ef7e7ee-90ac-4f2f-95b4-3fa726761eac" providerId="ADAL" clId="{22B82116-6912-4666-81AF-7E26BF632024}" dt="2026-05-18T14:35:50.464" v="35" actId="1076"/>
          <ac:spMkLst>
            <pc:docMk/>
            <pc:sldMk cId="517774276" sldId="262"/>
            <ac:spMk id="27" creationId="{949BBE35-B207-47ED-BEE4-53A6701D346D}"/>
          </ac:spMkLst>
        </pc:spChg>
        <pc:spChg chg="add mod">
          <ac:chgData name="Matthias Duranti" userId="3ef7e7ee-90ac-4f2f-95b4-3fa726761eac" providerId="ADAL" clId="{22B82116-6912-4666-81AF-7E26BF632024}" dt="2026-05-18T14:35:28.377" v="32" actId="14100"/>
          <ac:spMkLst>
            <pc:docMk/>
            <pc:sldMk cId="517774276" sldId="262"/>
            <ac:spMk id="28" creationId="{EB5EEFE0-4981-5EBF-C284-2AA0496EA6C1}"/>
          </ac:spMkLst>
        </pc:spChg>
        <pc:spChg chg="add mod">
          <ac:chgData name="Matthias Duranti" userId="3ef7e7ee-90ac-4f2f-95b4-3fa726761eac" providerId="ADAL" clId="{22B82116-6912-4666-81AF-7E26BF632024}" dt="2026-05-18T14:36:23.559" v="39" actId="14100"/>
          <ac:spMkLst>
            <pc:docMk/>
            <pc:sldMk cId="517774276" sldId="262"/>
            <ac:spMk id="29" creationId="{59C24DF4-F79D-B1FD-9BF7-ECE75CB4C7CA}"/>
          </ac:spMkLst>
        </pc:spChg>
      </pc:sldChg>
      <pc:sldChg chg="delSp modSp mod">
        <pc:chgData name="Matthias Duranti" userId="3ef7e7ee-90ac-4f2f-95b4-3fa726761eac" providerId="ADAL" clId="{22B82116-6912-4666-81AF-7E26BF632024}" dt="2026-05-18T14:40:50.305" v="60" actId="1076"/>
        <pc:sldMkLst>
          <pc:docMk/>
          <pc:sldMk cId="320581691" sldId="265"/>
        </pc:sldMkLst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5" creationId="{CFAFC89F-C042-4D72-A624-7173D9F4565F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6" creationId="{330FA069-06E2-4487-A04D-871486F54F2D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8" creationId="{024709CF-C902-4ED5-9A6B-63BABFEB6E25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10" creationId="{88DB1147-4067-408A-B2DC-0AF1972F2F79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12" creationId="{957BF705-CF0B-4EA5-AC69-3B03AD75541A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14" creationId="{83E61D04-C611-4F9D-A7A7-E67CD8303E2A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20" creationId="{EC6E44B7-E328-4C64-B3DA-43B955770DDD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22" creationId="{9E6FDFA1-F0CC-4E6F-BDE3-EC585169341D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23" creationId="{0226D15D-A0BF-4609-B0F9-F6E69FFC1AAC}"/>
          </ac:spMkLst>
        </pc:spChg>
        <pc:spChg chg="mod">
          <ac:chgData name="Matthias Duranti" userId="3ef7e7ee-90ac-4f2f-95b4-3fa726761eac" providerId="ADAL" clId="{22B82116-6912-4666-81AF-7E26BF632024}" dt="2026-05-18T14:40:50.305" v="60" actId="1076"/>
          <ac:spMkLst>
            <pc:docMk/>
            <pc:sldMk cId="320581691" sldId="265"/>
            <ac:spMk id="26" creationId="{3AFF5FF9-4DFE-4DFB-BA10-950F5AC36515}"/>
          </ac:spMkLst>
        </pc:spChg>
        <pc:spChg chg="del">
          <ac:chgData name="Matthias Duranti" userId="3ef7e7ee-90ac-4f2f-95b4-3fa726761eac" providerId="ADAL" clId="{22B82116-6912-4666-81AF-7E26BF632024}" dt="2026-05-18T14:39:57.680" v="57" actId="478"/>
          <ac:spMkLst>
            <pc:docMk/>
            <pc:sldMk cId="320581691" sldId="265"/>
            <ac:spMk id="29" creationId="{524C2FEC-3254-4D7A-B56A-BFB97C8C5E19}"/>
          </ac:spMkLst>
        </pc:spChg>
      </pc:sldChg>
      <pc:sldChg chg="modSp mod">
        <pc:chgData name="Matthias Duranti" userId="3ef7e7ee-90ac-4f2f-95b4-3fa726761eac" providerId="ADAL" clId="{22B82116-6912-4666-81AF-7E26BF632024}" dt="2026-05-18T14:39:07.307" v="56" actId="1076"/>
        <pc:sldMkLst>
          <pc:docMk/>
          <pc:sldMk cId="1378304684" sldId="266"/>
        </pc:sldMkLst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6" creationId="{C375D14B-56E9-4DE3-B4E2-CE72CA6A6BD1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9" creationId="{F742CC29-5FD1-4B1B-9C70-DFDEB96C3300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12" creationId="{685655C8-EDF6-4506-93E3-7322A8E5A42D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13" creationId="{8272D28E-B7B4-4D03-A114-B7BAB4E10E4B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15" creationId="{101D0C28-84E8-4F04-B263-62B605DF8FCB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16" creationId="{C0D59B97-CD61-4C1A-B63D-A993F27A78E0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20" creationId="{FF874F0D-A9E8-4081-B80B-94595A3F4568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22" creationId="{F5F970A9-BD98-449B-83C5-103A54B019CF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26" creationId="{77A61816-CBFB-4978-A469-F428B36677F1}"/>
          </ac:spMkLst>
        </pc:spChg>
        <pc:spChg chg="mod">
          <ac:chgData name="Matthias Duranti" userId="3ef7e7ee-90ac-4f2f-95b4-3fa726761eac" providerId="ADAL" clId="{22B82116-6912-4666-81AF-7E26BF632024}" dt="2026-05-18T14:38:58.709" v="54" actId="1076"/>
          <ac:spMkLst>
            <pc:docMk/>
            <pc:sldMk cId="1378304684" sldId="266"/>
            <ac:spMk id="27" creationId="{50DC4716-F223-4717-B84C-BA72E78153BA}"/>
          </ac:spMkLst>
        </pc:spChg>
        <pc:spChg chg="mod">
          <ac:chgData name="Matthias Duranti" userId="3ef7e7ee-90ac-4f2f-95b4-3fa726761eac" providerId="ADAL" clId="{22B82116-6912-4666-81AF-7E26BF632024}" dt="2026-05-18T14:39:07.307" v="56" actId="1076"/>
          <ac:spMkLst>
            <pc:docMk/>
            <pc:sldMk cId="1378304684" sldId="266"/>
            <ac:spMk id="32" creationId="{7245D8F7-1078-4314-BF8B-9863CAC852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tangolo 46">
            <a:extLst>
              <a:ext uri="{FF2B5EF4-FFF2-40B4-BE49-F238E27FC236}">
                <a16:creationId xmlns:a16="http://schemas.microsoft.com/office/drawing/2014/main" id="{12F51408-56D3-4A10-96C9-FBC18B207C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2B74A43-855E-4612-9399-C8CC647F327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4953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64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YOLO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90995E1-F2C2-4474-AAE7-B5A3CE38AD9C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590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DDE5E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0">
                <a:solidFill>
                  <a:srgbClr val="DDE5E8"/>
                </a:solidFill>
                <a:latin typeface="Aptos Display"/>
                <a:ea typeface="Aptos Display"/>
                <a:cs typeface="Aptos Display"/>
              </a:rPr>
              <a:t>From one-pass detection to edge-ready</a:t>
            </a:r>
          </a:p>
          <a:p>
            <a:pPr algn="l">
              <a:defRPr sz="2175" b="0">
                <a:solidFill>
                  <a:srgbClr val="DDE5E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0">
                <a:solidFill>
                  <a:srgbClr val="DDE5E8"/>
                </a:solidFill>
                <a:latin typeface="Aptos Display"/>
                <a:ea typeface="Aptos Display"/>
                <a:cs typeface="Aptos Display"/>
              </a:rPr>
              <a:t>end-to-end vision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425F806-BE37-4CB0-B53D-B3FD007C385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EBB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2"/>
                </a:solidFill>
                <a:latin typeface="Aptos"/>
                <a:ea typeface="Aptos"/>
                <a:cs typeface="Aptos"/>
              </a:rPr>
              <a:t>Neural Networks course | Updated technical deck | Focus: Ultralytics YOLO26 and the evolution from YOLOv1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37E8CEB-617D-4844-BC4A-1DBCFFC3B28B}"/>
              </a:ext>
            </a:extLst>
          </p:cNvPr>
          <p:cNvSpPr>
            <a:spLocks noGrp="1"/>
          </p:cNvSpPr>
          <p:nvPr/>
        </p:nvSpPr>
        <p:spPr>
          <a:xfrm>
            <a:off x="7239000" y="742950"/>
            <a:ext cx="3733800" cy="3429000"/>
          </a:xfrm>
          <a:prstGeom prst="rect">
            <a:avLst/>
          </a:prstGeom>
          <a:solidFill>
            <a:srgbClr val="172A34"/>
          </a:solidFill>
          <a:ln w="9525">
            <a:solidFill>
              <a:srgbClr val="40525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C352A14-2AA6-40E3-B6BC-862BA2C64B90}"/>
              </a:ext>
            </a:extLst>
          </p:cNvPr>
          <p:cNvSpPr>
            <a:spLocks noGrp="1"/>
          </p:cNvSpPr>
          <p:nvPr/>
        </p:nvSpPr>
        <p:spPr>
          <a:xfrm>
            <a:off x="7734300" y="1428750"/>
            <a:ext cx="13144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C95C285-D15B-4A8A-8649-E5C8323F93F6}"/>
              </a:ext>
            </a:extLst>
          </p:cNvPr>
          <p:cNvSpPr>
            <a:spLocks noGrp="1"/>
          </p:cNvSpPr>
          <p:nvPr/>
        </p:nvSpPr>
        <p:spPr>
          <a:xfrm>
            <a:off x="7734300" y="1219200"/>
            <a:ext cx="819150" cy="1905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EF680B5-B09E-4489-9601-94FD1CAED785}"/>
              </a:ext>
            </a:extLst>
          </p:cNvPr>
          <p:cNvSpPr>
            <a:spLocks noGrp="1"/>
          </p:cNvSpPr>
          <p:nvPr/>
        </p:nvSpPr>
        <p:spPr>
          <a:xfrm>
            <a:off x="7781925" y="1247775"/>
            <a:ext cx="742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person .88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9953318-5335-4392-9545-E97B423502FE}"/>
              </a:ext>
            </a:extLst>
          </p:cNvPr>
          <p:cNvSpPr>
            <a:spLocks noGrp="1"/>
          </p:cNvSpPr>
          <p:nvPr/>
        </p:nvSpPr>
        <p:spPr>
          <a:xfrm>
            <a:off x="9105900" y="1962150"/>
            <a:ext cx="10287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D6A7CB6-87E3-45D9-A252-470271F49291}"/>
              </a:ext>
            </a:extLst>
          </p:cNvPr>
          <p:cNvSpPr>
            <a:spLocks noGrp="1"/>
          </p:cNvSpPr>
          <p:nvPr/>
        </p:nvSpPr>
        <p:spPr>
          <a:xfrm>
            <a:off x="9105900" y="1752600"/>
            <a:ext cx="819150" cy="1905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AC1CA28-BC50-45D8-A87D-219581FC4173}"/>
              </a:ext>
            </a:extLst>
          </p:cNvPr>
          <p:cNvSpPr>
            <a:spLocks noGrp="1"/>
          </p:cNvSpPr>
          <p:nvPr/>
        </p:nvSpPr>
        <p:spPr>
          <a:xfrm>
            <a:off x="9153525" y="1781175"/>
            <a:ext cx="742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bus .91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AF218D9-F0AB-4AC3-96D7-FDF07868274B}"/>
              </a:ext>
            </a:extLst>
          </p:cNvPr>
          <p:cNvSpPr>
            <a:spLocks noGrp="1"/>
          </p:cNvSpPr>
          <p:nvPr/>
        </p:nvSpPr>
        <p:spPr>
          <a:xfrm>
            <a:off x="8267700" y="285750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AF2BF58-94F8-4701-BDA4-058DF8198EF5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819150" cy="1905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7D2137F-5214-4025-90E5-E502C3A7F513}"/>
              </a:ext>
            </a:extLst>
          </p:cNvPr>
          <p:cNvSpPr>
            <a:spLocks noGrp="1"/>
          </p:cNvSpPr>
          <p:nvPr/>
        </p:nvSpPr>
        <p:spPr>
          <a:xfrm>
            <a:off x="8315325" y="2676525"/>
            <a:ext cx="742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road sign .74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CED014A-F786-43E7-880F-5645AE6A2B4A}"/>
              </a:ext>
            </a:extLst>
          </p:cNvPr>
          <p:cNvSpPr>
            <a:spLocks noGrp="1"/>
          </p:cNvSpPr>
          <p:nvPr/>
        </p:nvSpPr>
        <p:spPr>
          <a:xfrm>
            <a:off x="7620000" y="3867150"/>
            <a:ext cx="104775" cy="10477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7D6D797-54A9-4BAE-A0BF-C53DAAD8BC49}"/>
              </a:ext>
            </a:extLst>
          </p:cNvPr>
          <p:cNvSpPr>
            <a:spLocks noGrp="1"/>
          </p:cNvSpPr>
          <p:nvPr/>
        </p:nvSpPr>
        <p:spPr>
          <a:xfrm>
            <a:off x="7829550" y="377190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AC38CBE-F2F1-470F-AF67-B17473A2624B}"/>
              </a:ext>
            </a:extLst>
          </p:cNvPr>
          <p:cNvSpPr>
            <a:spLocks noGrp="1"/>
          </p:cNvSpPr>
          <p:nvPr/>
        </p:nvSpPr>
        <p:spPr>
          <a:xfrm>
            <a:off x="8039100" y="367665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24B195B-479A-4A92-B857-72275D6B7D35}"/>
              </a:ext>
            </a:extLst>
          </p:cNvPr>
          <p:cNvSpPr>
            <a:spLocks noGrp="1"/>
          </p:cNvSpPr>
          <p:nvPr/>
        </p:nvSpPr>
        <p:spPr>
          <a:xfrm>
            <a:off x="8248650" y="3581400"/>
            <a:ext cx="104775" cy="10477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790DF45-5B42-4D4C-B2EE-7F118696CF05}"/>
              </a:ext>
            </a:extLst>
          </p:cNvPr>
          <p:cNvSpPr>
            <a:spLocks noGrp="1"/>
          </p:cNvSpPr>
          <p:nvPr/>
        </p:nvSpPr>
        <p:spPr>
          <a:xfrm>
            <a:off x="8458200" y="386715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496B098-40F8-471C-BA43-C65D968B6C71}"/>
              </a:ext>
            </a:extLst>
          </p:cNvPr>
          <p:cNvSpPr>
            <a:spLocks noGrp="1"/>
          </p:cNvSpPr>
          <p:nvPr/>
        </p:nvSpPr>
        <p:spPr>
          <a:xfrm>
            <a:off x="8667750" y="377190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059F234E-9A81-41A6-885D-266BC4DF87A2}"/>
              </a:ext>
            </a:extLst>
          </p:cNvPr>
          <p:cNvSpPr>
            <a:spLocks noGrp="1"/>
          </p:cNvSpPr>
          <p:nvPr/>
        </p:nvSpPr>
        <p:spPr>
          <a:xfrm>
            <a:off x="8877300" y="3676650"/>
            <a:ext cx="104775" cy="10477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9979C8-B101-490D-88F5-0D989C41FC69}"/>
              </a:ext>
            </a:extLst>
          </p:cNvPr>
          <p:cNvSpPr>
            <a:spLocks noGrp="1"/>
          </p:cNvSpPr>
          <p:nvPr/>
        </p:nvSpPr>
        <p:spPr>
          <a:xfrm>
            <a:off x="9086850" y="358140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BBCC041-1B64-4751-A870-EEE31229E858}"/>
              </a:ext>
            </a:extLst>
          </p:cNvPr>
          <p:cNvSpPr>
            <a:spLocks noGrp="1"/>
          </p:cNvSpPr>
          <p:nvPr/>
        </p:nvSpPr>
        <p:spPr>
          <a:xfrm>
            <a:off x="9296400" y="386715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365779F-03D9-4345-A71C-88E97DD97B55}"/>
              </a:ext>
            </a:extLst>
          </p:cNvPr>
          <p:cNvSpPr>
            <a:spLocks noGrp="1"/>
          </p:cNvSpPr>
          <p:nvPr/>
        </p:nvSpPr>
        <p:spPr>
          <a:xfrm>
            <a:off x="9505950" y="3771900"/>
            <a:ext cx="104775" cy="10477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0B615DD1-098B-4E9C-8DE6-2DD3F1D53504}"/>
              </a:ext>
            </a:extLst>
          </p:cNvPr>
          <p:cNvSpPr>
            <a:spLocks noGrp="1"/>
          </p:cNvSpPr>
          <p:nvPr/>
        </p:nvSpPr>
        <p:spPr>
          <a:xfrm>
            <a:off x="9715500" y="367665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373AD5F8-0AA1-479E-85D1-C4BE24FFF0E7}"/>
              </a:ext>
            </a:extLst>
          </p:cNvPr>
          <p:cNvSpPr>
            <a:spLocks noGrp="1"/>
          </p:cNvSpPr>
          <p:nvPr/>
        </p:nvSpPr>
        <p:spPr>
          <a:xfrm>
            <a:off x="9925050" y="358140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30F1393-2E0A-4BCB-BAAA-4A0F68D70303}"/>
              </a:ext>
            </a:extLst>
          </p:cNvPr>
          <p:cNvSpPr>
            <a:spLocks noGrp="1"/>
          </p:cNvSpPr>
          <p:nvPr/>
        </p:nvSpPr>
        <p:spPr>
          <a:xfrm>
            <a:off x="10134600" y="3867150"/>
            <a:ext cx="104775" cy="10477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7139EED2-2BF1-4D90-AAB3-1413249DFE3C}"/>
              </a:ext>
            </a:extLst>
          </p:cNvPr>
          <p:cNvSpPr>
            <a:spLocks noGrp="1"/>
          </p:cNvSpPr>
          <p:nvPr/>
        </p:nvSpPr>
        <p:spPr>
          <a:xfrm>
            <a:off x="10344150" y="3771900"/>
            <a:ext cx="104775" cy="104775"/>
          </a:xfrm>
          <a:prstGeom prst="rect">
            <a:avLst/>
          </a:prstGeom>
          <a:solidFill>
            <a:srgbClr val="2E42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1D64E489-69BC-49B0-A4FE-207D6166A6E0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rPr>
              <a:t>1 pass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DA2CC2A-DE61-416B-933D-D0DDAF3499A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 single forward pass predicts boxes + classes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A01605CC-2E39-4512-91A1-8234389C5E5D}"/>
              </a:ext>
            </a:extLst>
          </p:cNvPr>
          <p:cNvSpPr>
            <a:spLocks noGrp="1"/>
          </p:cNvSpPr>
          <p:nvPr/>
        </p:nvSpPr>
        <p:spPr>
          <a:xfrm>
            <a:off x="3486150" y="38862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NMS-free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FFE4A84C-807A-420A-8741-455DA8632DA0}"/>
              </a:ext>
            </a:extLst>
          </p:cNvPr>
          <p:cNvSpPr>
            <a:spLocks noGrp="1"/>
          </p:cNvSpPr>
          <p:nvPr/>
        </p:nvSpPr>
        <p:spPr>
          <a:xfrm>
            <a:off x="3486150" y="43434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YOLO26 default path removes the classic post-processing step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99219DE4-9C32-4B17-9BB5-F7D2D05662AC}"/>
              </a:ext>
            </a:extLst>
          </p:cNvPr>
          <p:cNvSpPr>
            <a:spLocks noGrp="1"/>
          </p:cNvSpPr>
          <p:nvPr/>
        </p:nvSpPr>
        <p:spPr>
          <a:xfrm>
            <a:off x="6572250" y="38862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rPr>
              <a:t>43%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74447696-6B72-4467-8E85-03653819A183}"/>
              </a:ext>
            </a:extLst>
          </p:cNvPr>
          <p:cNvSpPr>
            <a:spLocks noGrp="1"/>
          </p:cNvSpPr>
          <p:nvPr/>
        </p:nvSpPr>
        <p:spPr>
          <a:xfrm>
            <a:off x="6572250" y="43434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reported CPU inference speed-up vs YOLO11 family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F6A88B2-5ED0-44C6-9714-4F9F7D1BBB49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668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F97D83E4-38A9-419E-BADD-24F32AB76261}"/>
              </a:ext>
            </a:extLst>
          </p:cNvPr>
          <p:cNvSpPr>
            <a:spLocks noGrp="1"/>
          </p:cNvSpPr>
          <p:nvPr/>
        </p:nvSpPr>
        <p:spPr>
          <a:xfrm>
            <a:off x="800100" y="53911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EF84A892-6B26-46A2-95CD-189BF6629322}"/>
              </a:ext>
            </a:extLst>
          </p:cNvPr>
          <p:cNvSpPr>
            <a:spLocks noGrp="1"/>
          </p:cNvSpPr>
          <p:nvPr/>
        </p:nvSpPr>
        <p:spPr>
          <a:xfrm>
            <a:off x="1866900" y="5334000"/>
            <a:ext cx="12573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EA2BFE17-A92D-41F2-B5B6-B4DB9A70E052}"/>
              </a:ext>
            </a:extLst>
          </p:cNvPr>
          <p:cNvSpPr>
            <a:spLocks noGrp="1"/>
          </p:cNvSpPr>
          <p:nvPr/>
        </p:nvSpPr>
        <p:spPr>
          <a:xfrm>
            <a:off x="1981200" y="5391150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642914A7-94AC-408F-AB10-9ACAACEED002}"/>
              </a:ext>
            </a:extLst>
          </p:cNvPr>
          <p:cNvSpPr>
            <a:spLocks noGrp="1"/>
          </p:cNvSpPr>
          <p:nvPr/>
        </p:nvSpPr>
        <p:spPr>
          <a:xfrm>
            <a:off x="3238500" y="5334000"/>
            <a:ext cx="8001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8747F825-FEC9-4382-A698-359CACB46EE2}"/>
              </a:ext>
            </a:extLst>
          </p:cNvPr>
          <p:cNvSpPr>
            <a:spLocks noGrp="1"/>
          </p:cNvSpPr>
          <p:nvPr/>
        </p:nvSpPr>
        <p:spPr>
          <a:xfrm>
            <a:off x="3352800" y="5391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Pose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BCABEDFC-0D37-444E-B100-C609DCC3D6C2}"/>
              </a:ext>
            </a:extLst>
          </p:cNvPr>
          <p:cNvSpPr>
            <a:spLocks noGrp="1"/>
          </p:cNvSpPr>
          <p:nvPr/>
        </p:nvSpPr>
        <p:spPr>
          <a:xfrm>
            <a:off x="4152900" y="5334000"/>
            <a:ext cx="6858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358B315E-1E43-4AC2-9E99-99C3E978C2B5}"/>
              </a:ext>
            </a:extLst>
          </p:cNvPr>
          <p:cNvSpPr>
            <a:spLocks noGrp="1"/>
          </p:cNvSpPr>
          <p:nvPr/>
        </p:nvSpPr>
        <p:spPr>
          <a:xfrm>
            <a:off x="4267200" y="5391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OBB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96305E59-4A9A-42BB-98E4-349D8FE0FEA2}"/>
              </a:ext>
            </a:extLst>
          </p:cNvPr>
          <p:cNvSpPr>
            <a:spLocks noGrp="1"/>
          </p:cNvSpPr>
          <p:nvPr/>
        </p:nvSpPr>
        <p:spPr>
          <a:xfrm>
            <a:off x="4953000" y="5334000"/>
            <a:ext cx="135255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A7C9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69B9C2E0-0DAD-4936-AAC9-141EDB2B1534}"/>
              </a:ext>
            </a:extLst>
          </p:cNvPr>
          <p:cNvSpPr>
            <a:spLocks noGrp="1"/>
          </p:cNvSpPr>
          <p:nvPr/>
        </p:nvSpPr>
        <p:spPr>
          <a:xfrm>
            <a:off x="5067300" y="53911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0EA07C5D-8E10-4660-B11B-AB9D17B34ED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Sources: Redmon et al. 2015; Ultralytics YOLO26 docs, accessed 18 May 2026.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D177998C-1DA9-47E2-B065-3A814D66D19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35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23">
            <a:extLst>
              <a:ext uri="{FF2B5EF4-FFF2-40B4-BE49-F238E27FC236}">
                <a16:creationId xmlns:a16="http://schemas.microsoft.com/office/drawing/2014/main" id="{B75951DB-3AB2-40F5-B5E6-8022F095FB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6116FA96-AA52-43C6-A9F4-77F04E01BD8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AF3161E6-2935-4F0A-B36C-C56395438CD1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WHY IT MATTERED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99A8D7E-3C74-437A-AB41-E48FBDF2397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 replaced a multi-stage detector with one trainable prediction problem.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CFD7FA1-86DD-48D3-A5EC-B97BA92DD67A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143250" cy="1428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39541AC-70BD-49E1-B4E6-2241D2628FEC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66675" cy="1428750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6C35CE0-301B-4709-88C6-1C34A0E18B40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Two-stage detectors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A4350E0-A575-4B79-BD92-3BB989C85EBA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876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Generate candidate regions first, then classify and refine each proposal. More accurate historically, but heavier.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45E3063-11F0-403E-807C-8FD4B7C1FA65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3143250" cy="1428750"/>
          </a:xfrm>
          <a:prstGeom prst="rect">
            <a:avLst/>
          </a:prstGeom>
          <a:solidFill>
            <a:srgbClr val="FFFFFF"/>
          </a:solidFill>
          <a:ln w="1333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A363E6E-3F2A-438B-A6EC-5C9AB461A48B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66675" cy="14287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837D86D-975C-4040-A73B-9D57DF53A9B9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 idea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ABEA79F-DA6B-4396-92BD-F33392919D95}"/>
              </a:ext>
            </a:extLst>
          </p:cNvPr>
          <p:cNvSpPr>
            <a:spLocks noGrp="1"/>
          </p:cNvSpPr>
          <p:nvPr/>
        </p:nvSpPr>
        <p:spPr>
          <a:xfrm>
            <a:off x="4705350" y="2476500"/>
            <a:ext cx="2876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Divide the image into spatial responsibility, regress boxes and class probabilities directly from full-image features.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B1EF789-45AB-42FB-9C54-0EBC8BE0469C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3143250" cy="1428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911F755-2A38-45CB-8EC0-2367FA91535D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66675" cy="14287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6FB83AF-EB2B-4726-90F8-F642EAA06C6F}"/>
              </a:ext>
            </a:extLst>
          </p:cNvPr>
          <p:cNvSpPr>
            <a:spLocks noGrp="1"/>
          </p:cNvSpPr>
          <p:nvPr/>
        </p:nvSpPr>
        <p:spPr>
          <a:xfrm>
            <a:off x="8458200" y="2219325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Modern YOLO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C60F18A-9B5C-4A3F-BB35-761C36D4F95C}"/>
              </a:ext>
            </a:extLst>
          </p:cNvPr>
          <p:cNvSpPr>
            <a:spLocks noGrp="1"/>
          </p:cNvSpPr>
          <p:nvPr/>
        </p:nvSpPr>
        <p:spPr>
          <a:xfrm>
            <a:off x="8458200" y="2476500"/>
            <a:ext cx="2876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Keep the single-stage latency advantage, then add multi-scale features, stronger assignment, better losses and deployable heads.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E17DE39-D693-4213-8CCF-9179E3F5BC9C}"/>
              </a:ext>
            </a:extLst>
          </p:cNvPr>
          <p:cNvSpPr>
            <a:spLocks noGrp="1"/>
          </p:cNvSpPr>
          <p:nvPr/>
        </p:nvSpPr>
        <p:spPr>
          <a:xfrm>
            <a:off x="3981450" y="2781300"/>
            <a:ext cx="4000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B57CDED-35D4-424B-95BE-322C289E50F9}"/>
              </a:ext>
            </a:extLst>
          </p:cNvPr>
          <p:cNvSpPr>
            <a:spLocks noGrp="1"/>
          </p:cNvSpPr>
          <p:nvPr/>
        </p:nvSpPr>
        <p:spPr>
          <a:xfrm>
            <a:off x="7734300" y="2781300"/>
            <a:ext cx="4000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A91BFD7-25DA-407E-8F98-0CD78ABED829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9448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The enduring thesis is not only speed. The detector sees global context in one pass, so it learns object co-occurrence and scene-level priors that proposal pipelines used to handle indirectly.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16FDBF6-1357-4C04-8B9C-34C188BF7EAA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9429750" cy="14288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7DF3C77E-B924-47D1-B160-DB001629A799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942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Original YOLO was extremely fast but made more localization errors than then-state-of-the-art systems. Most later upgrades can be read as attempts to keep the latency thesis while repairing localization, small-object recall and deployment friction.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944AAE66-C247-47FF-B48D-61785E86A31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Redmon et al., “You Only Look Once: Unified, Real-Time Object Detection,” arXiv:1506.02640.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6B58F400-3DA0-4738-8F4A-6FF524E0386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355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tangolo 70">
            <a:extLst>
              <a:ext uri="{FF2B5EF4-FFF2-40B4-BE49-F238E27FC236}">
                <a16:creationId xmlns:a16="http://schemas.microsoft.com/office/drawing/2014/main" id="{208977BB-1441-4344-BD40-D5CD47BF01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4257F25C-C906-4C46-B8C0-6103FDC33DC2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637A7CA0-00AB-4354-AA01-0BCA6894FD69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ORIGINAL MECHANICS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A9F628B-AD0E-4F81-B8BB-D1674B74AFD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YOLOv1 treated detection as grid-cell regression, which made speed and errors inseparable.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D7E2265-84C8-431C-B7CA-08A6798A32F5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4F242AD-EC8A-46B9-BF83-6DD4BDB153CE}"/>
              </a:ext>
            </a:extLst>
          </p:cNvPr>
          <p:cNvSpPr>
            <a:spLocks noGrp="1"/>
          </p:cNvSpPr>
          <p:nvPr/>
        </p:nvSpPr>
        <p:spPr>
          <a:xfrm>
            <a:off x="14097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D101702-1DC9-4D45-AFF9-F2BA2E9E151F}"/>
              </a:ext>
            </a:extLst>
          </p:cNvPr>
          <p:cNvSpPr>
            <a:spLocks noGrp="1"/>
          </p:cNvSpPr>
          <p:nvPr/>
        </p:nvSpPr>
        <p:spPr>
          <a:xfrm>
            <a:off x="19431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2D7F458-7704-49A3-A1E6-390EF04187AB}"/>
              </a:ext>
            </a:extLst>
          </p:cNvPr>
          <p:cNvSpPr>
            <a:spLocks noGrp="1"/>
          </p:cNvSpPr>
          <p:nvPr/>
        </p:nvSpPr>
        <p:spPr>
          <a:xfrm>
            <a:off x="24765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4526654-0927-4D5A-8DE0-77A3703A3A63}"/>
              </a:ext>
            </a:extLst>
          </p:cNvPr>
          <p:cNvSpPr>
            <a:spLocks noGrp="1"/>
          </p:cNvSpPr>
          <p:nvPr/>
        </p:nvSpPr>
        <p:spPr>
          <a:xfrm>
            <a:off x="30099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A0A4E2B-A647-4B2E-940E-7784A9F76E5B}"/>
              </a:ext>
            </a:extLst>
          </p:cNvPr>
          <p:cNvSpPr>
            <a:spLocks noGrp="1"/>
          </p:cNvSpPr>
          <p:nvPr/>
        </p:nvSpPr>
        <p:spPr>
          <a:xfrm>
            <a:off x="35433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9626A3C-08E3-46FB-8E6E-185747904571}"/>
              </a:ext>
            </a:extLst>
          </p:cNvPr>
          <p:cNvSpPr>
            <a:spLocks noGrp="1"/>
          </p:cNvSpPr>
          <p:nvPr/>
        </p:nvSpPr>
        <p:spPr>
          <a:xfrm>
            <a:off x="4076700" y="2076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BFB650F-5D4D-4870-85E7-08D55B9B7F65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519C0EF-A751-4AFC-A30B-F84C015AB1DF}"/>
              </a:ext>
            </a:extLst>
          </p:cNvPr>
          <p:cNvSpPr>
            <a:spLocks noGrp="1"/>
          </p:cNvSpPr>
          <p:nvPr/>
        </p:nvSpPr>
        <p:spPr>
          <a:xfrm>
            <a:off x="14097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B331C04-4E73-4302-913D-358E9497907C}"/>
              </a:ext>
            </a:extLst>
          </p:cNvPr>
          <p:cNvSpPr>
            <a:spLocks noGrp="1"/>
          </p:cNvSpPr>
          <p:nvPr/>
        </p:nvSpPr>
        <p:spPr>
          <a:xfrm>
            <a:off x="19431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143806E-2790-4996-85FE-3492165ABFAC}"/>
              </a:ext>
            </a:extLst>
          </p:cNvPr>
          <p:cNvSpPr>
            <a:spLocks noGrp="1"/>
          </p:cNvSpPr>
          <p:nvPr/>
        </p:nvSpPr>
        <p:spPr>
          <a:xfrm>
            <a:off x="24765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74DBA68-34FF-4D2D-89FA-5EF3483E39D0}"/>
              </a:ext>
            </a:extLst>
          </p:cNvPr>
          <p:cNvSpPr>
            <a:spLocks noGrp="1"/>
          </p:cNvSpPr>
          <p:nvPr/>
        </p:nvSpPr>
        <p:spPr>
          <a:xfrm>
            <a:off x="30099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50A1EF8-F9DA-4535-8782-542B8930287D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40C0049-B642-4503-87F2-4893B876ACA1}"/>
              </a:ext>
            </a:extLst>
          </p:cNvPr>
          <p:cNvSpPr>
            <a:spLocks noGrp="1"/>
          </p:cNvSpPr>
          <p:nvPr/>
        </p:nvSpPr>
        <p:spPr>
          <a:xfrm>
            <a:off x="4076700" y="2609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ECB7F6E-90CA-494A-9491-973D8FD15C02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56F88B0-7618-4007-BD85-D7896632D875}"/>
              </a:ext>
            </a:extLst>
          </p:cNvPr>
          <p:cNvSpPr>
            <a:spLocks noGrp="1"/>
          </p:cNvSpPr>
          <p:nvPr/>
        </p:nvSpPr>
        <p:spPr>
          <a:xfrm>
            <a:off x="14097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63FE09E-1C88-4454-B713-6516CDEE99FA}"/>
              </a:ext>
            </a:extLst>
          </p:cNvPr>
          <p:cNvSpPr>
            <a:spLocks noGrp="1"/>
          </p:cNvSpPr>
          <p:nvPr/>
        </p:nvSpPr>
        <p:spPr>
          <a:xfrm>
            <a:off x="19431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1238447-61EC-49CF-8A77-9F24DC1FD03E}"/>
              </a:ext>
            </a:extLst>
          </p:cNvPr>
          <p:cNvSpPr>
            <a:spLocks noGrp="1"/>
          </p:cNvSpPr>
          <p:nvPr/>
        </p:nvSpPr>
        <p:spPr>
          <a:xfrm>
            <a:off x="24765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80F2ABD1-CA8B-46C7-9432-4BE8C75FCC7F}"/>
              </a:ext>
            </a:extLst>
          </p:cNvPr>
          <p:cNvSpPr>
            <a:spLocks noGrp="1"/>
          </p:cNvSpPr>
          <p:nvPr/>
        </p:nvSpPr>
        <p:spPr>
          <a:xfrm>
            <a:off x="30099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9FD5EAE-80C9-4021-99B3-47EA84F7D2D1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6FA4C642-3992-4E7B-AC6C-3EA6B317D841}"/>
              </a:ext>
            </a:extLst>
          </p:cNvPr>
          <p:cNvSpPr>
            <a:spLocks noGrp="1"/>
          </p:cNvSpPr>
          <p:nvPr/>
        </p:nvSpPr>
        <p:spPr>
          <a:xfrm>
            <a:off x="4076700" y="31432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CA75A26F-09F2-4B28-B725-9C821D210DD7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0B7E91EF-CCB5-4454-AC57-62BE1613C297}"/>
              </a:ext>
            </a:extLst>
          </p:cNvPr>
          <p:cNvSpPr>
            <a:spLocks noGrp="1"/>
          </p:cNvSpPr>
          <p:nvPr/>
        </p:nvSpPr>
        <p:spPr>
          <a:xfrm>
            <a:off x="14097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E0702C1B-B404-4ADE-BFE7-499DF0A6F4AC}"/>
              </a:ext>
            </a:extLst>
          </p:cNvPr>
          <p:cNvSpPr>
            <a:spLocks noGrp="1"/>
          </p:cNvSpPr>
          <p:nvPr/>
        </p:nvSpPr>
        <p:spPr>
          <a:xfrm>
            <a:off x="19431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0FEBAF7-E8E3-4BD7-9D4B-C7A57DE307F7}"/>
              </a:ext>
            </a:extLst>
          </p:cNvPr>
          <p:cNvSpPr>
            <a:spLocks noGrp="1"/>
          </p:cNvSpPr>
          <p:nvPr/>
        </p:nvSpPr>
        <p:spPr>
          <a:xfrm>
            <a:off x="24765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818BD9CF-CB20-4A5E-8949-E33900AD1326}"/>
              </a:ext>
            </a:extLst>
          </p:cNvPr>
          <p:cNvSpPr>
            <a:spLocks noGrp="1"/>
          </p:cNvSpPr>
          <p:nvPr/>
        </p:nvSpPr>
        <p:spPr>
          <a:xfrm>
            <a:off x="3009900" y="3676650"/>
            <a:ext cx="514350" cy="514350"/>
          </a:xfrm>
          <a:prstGeom prst="rect">
            <a:avLst/>
          </a:prstGeom>
          <a:solidFill>
            <a:srgbClr val="FFE3E0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0E063E8-4BDD-492C-896B-A5ABD097F758}"/>
              </a:ext>
            </a:extLst>
          </p:cNvPr>
          <p:cNvSpPr>
            <a:spLocks noGrp="1"/>
          </p:cNvSpPr>
          <p:nvPr/>
        </p:nvSpPr>
        <p:spPr>
          <a:xfrm>
            <a:off x="35433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EF22D7D2-296F-4BCB-BFDB-436CEA25F4D5}"/>
              </a:ext>
            </a:extLst>
          </p:cNvPr>
          <p:cNvSpPr>
            <a:spLocks noGrp="1"/>
          </p:cNvSpPr>
          <p:nvPr/>
        </p:nvSpPr>
        <p:spPr>
          <a:xfrm>
            <a:off x="4076700" y="36766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7661B5D-7CF2-4B9A-9092-54FE73346668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05499D9F-B09E-4FDD-B542-A339412A9CCE}"/>
              </a:ext>
            </a:extLst>
          </p:cNvPr>
          <p:cNvSpPr>
            <a:spLocks noGrp="1"/>
          </p:cNvSpPr>
          <p:nvPr/>
        </p:nvSpPr>
        <p:spPr>
          <a:xfrm>
            <a:off x="14097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42BA565-3A05-4C71-A73A-71D99A037604}"/>
              </a:ext>
            </a:extLst>
          </p:cNvPr>
          <p:cNvSpPr>
            <a:spLocks noGrp="1"/>
          </p:cNvSpPr>
          <p:nvPr/>
        </p:nvSpPr>
        <p:spPr>
          <a:xfrm>
            <a:off x="19431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B62CEA9C-F582-46C1-A204-D5660D28FB3E}"/>
              </a:ext>
            </a:extLst>
          </p:cNvPr>
          <p:cNvSpPr>
            <a:spLocks noGrp="1"/>
          </p:cNvSpPr>
          <p:nvPr/>
        </p:nvSpPr>
        <p:spPr>
          <a:xfrm>
            <a:off x="24765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8C9A9946-E073-40D0-9A5C-98F3CB5C6910}"/>
              </a:ext>
            </a:extLst>
          </p:cNvPr>
          <p:cNvSpPr>
            <a:spLocks noGrp="1"/>
          </p:cNvSpPr>
          <p:nvPr/>
        </p:nvSpPr>
        <p:spPr>
          <a:xfrm>
            <a:off x="30099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232CDD62-9F77-4021-80AE-14B9E1E0165D}"/>
              </a:ext>
            </a:extLst>
          </p:cNvPr>
          <p:cNvSpPr>
            <a:spLocks noGrp="1"/>
          </p:cNvSpPr>
          <p:nvPr/>
        </p:nvSpPr>
        <p:spPr>
          <a:xfrm>
            <a:off x="35433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08EA5668-D79F-414A-B393-F377954734BB}"/>
              </a:ext>
            </a:extLst>
          </p:cNvPr>
          <p:cNvSpPr>
            <a:spLocks noGrp="1"/>
          </p:cNvSpPr>
          <p:nvPr/>
        </p:nvSpPr>
        <p:spPr>
          <a:xfrm>
            <a:off x="4076700" y="42100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F08A7A26-8CC5-4D03-8D60-4ED97C3B5968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1B88B41F-FCC5-447E-AD71-A69F1E75CB52}"/>
              </a:ext>
            </a:extLst>
          </p:cNvPr>
          <p:cNvSpPr>
            <a:spLocks noGrp="1"/>
          </p:cNvSpPr>
          <p:nvPr/>
        </p:nvSpPr>
        <p:spPr>
          <a:xfrm>
            <a:off x="14097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6FBC8411-C725-4019-B56B-6BE98A3757FB}"/>
              </a:ext>
            </a:extLst>
          </p:cNvPr>
          <p:cNvSpPr>
            <a:spLocks noGrp="1"/>
          </p:cNvSpPr>
          <p:nvPr/>
        </p:nvSpPr>
        <p:spPr>
          <a:xfrm>
            <a:off x="19431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C562475-19E4-4830-A84F-C3AC92145F41}"/>
              </a:ext>
            </a:extLst>
          </p:cNvPr>
          <p:cNvSpPr>
            <a:spLocks noGrp="1"/>
          </p:cNvSpPr>
          <p:nvPr/>
        </p:nvSpPr>
        <p:spPr>
          <a:xfrm>
            <a:off x="24765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404E3743-27C6-420D-AA1D-23A80F7204AF}"/>
              </a:ext>
            </a:extLst>
          </p:cNvPr>
          <p:cNvSpPr>
            <a:spLocks noGrp="1"/>
          </p:cNvSpPr>
          <p:nvPr/>
        </p:nvSpPr>
        <p:spPr>
          <a:xfrm>
            <a:off x="30099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5B80184F-B2C6-4B96-943C-C0B1E7C11A40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C79848A1-5EAD-45E1-BBF8-49A15A0783EA}"/>
              </a:ext>
            </a:extLst>
          </p:cNvPr>
          <p:cNvSpPr>
            <a:spLocks noGrp="1"/>
          </p:cNvSpPr>
          <p:nvPr/>
        </p:nvSpPr>
        <p:spPr>
          <a:xfrm>
            <a:off x="4076700" y="47434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3DD31CC1-20EE-4902-8A23-D1FD06C55407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02189870-BD7E-4B8A-919D-EC3941F2508B}"/>
              </a:ext>
            </a:extLst>
          </p:cNvPr>
          <p:cNvSpPr>
            <a:spLocks noGrp="1"/>
          </p:cNvSpPr>
          <p:nvPr/>
        </p:nvSpPr>
        <p:spPr>
          <a:xfrm>
            <a:off x="14097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5CD01AB1-A7D6-49A8-B265-5E56CB7BCBC5}"/>
              </a:ext>
            </a:extLst>
          </p:cNvPr>
          <p:cNvSpPr>
            <a:spLocks noGrp="1"/>
          </p:cNvSpPr>
          <p:nvPr/>
        </p:nvSpPr>
        <p:spPr>
          <a:xfrm>
            <a:off x="19431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318FCD15-A525-42BF-AB91-8194711F0AD4}"/>
              </a:ext>
            </a:extLst>
          </p:cNvPr>
          <p:cNvSpPr>
            <a:spLocks noGrp="1"/>
          </p:cNvSpPr>
          <p:nvPr/>
        </p:nvSpPr>
        <p:spPr>
          <a:xfrm>
            <a:off x="24765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BEC902B-F6A4-44BF-B344-90C258579007}"/>
              </a:ext>
            </a:extLst>
          </p:cNvPr>
          <p:cNvSpPr>
            <a:spLocks noGrp="1"/>
          </p:cNvSpPr>
          <p:nvPr/>
        </p:nvSpPr>
        <p:spPr>
          <a:xfrm>
            <a:off x="30099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FCB6C71C-12EB-4656-8235-997ABDA13C76}"/>
              </a:ext>
            </a:extLst>
          </p:cNvPr>
          <p:cNvSpPr>
            <a:spLocks noGrp="1"/>
          </p:cNvSpPr>
          <p:nvPr/>
        </p:nvSpPr>
        <p:spPr>
          <a:xfrm>
            <a:off x="35433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DBBE7A3A-D8D0-4042-A40C-4F93789840AA}"/>
              </a:ext>
            </a:extLst>
          </p:cNvPr>
          <p:cNvSpPr>
            <a:spLocks noGrp="1"/>
          </p:cNvSpPr>
          <p:nvPr/>
        </p:nvSpPr>
        <p:spPr>
          <a:xfrm>
            <a:off x="4076700" y="5276850"/>
            <a:ext cx="514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3B4741A3-EAE9-4DCC-9C20-D226B2D15352}"/>
              </a:ext>
            </a:extLst>
          </p:cNvPr>
          <p:cNvSpPr>
            <a:spLocks noGrp="1"/>
          </p:cNvSpPr>
          <p:nvPr/>
        </p:nvSpPr>
        <p:spPr>
          <a:xfrm>
            <a:off x="3057525" y="3733800"/>
            <a:ext cx="12573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BBDEF967-B186-4D55-9F99-CC7DBBB3096B}"/>
              </a:ext>
            </a:extLst>
          </p:cNvPr>
          <p:cNvSpPr>
            <a:spLocks noGrp="1"/>
          </p:cNvSpPr>
          <p:nvPr/>
        </p:nvSpPr>
        <p:spPr>
          <a:xfrm>
            <a:off x="3162300" y="38671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97ABC4F1-548F-4FCB-A4D2-49922B882545}"/>
              </a:ext>
            </a:extLst>
          </p:cNvPr>
          <p:cNvSpPr>
            <a:spLocks noGrp="1"/>
          </p:cNvSpPr>
          <p:nvPr/>
        </p:nvSpPr>
        <p:spPr>
          <a:xfrm>
            <a:off x="876300" y="5962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 x S grid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EC2BB893-CD0D-40BF-979E-50EA1A0D3BF6}"/>
              </a:ext>
            </a:extLst>
          </p:cNvPr>
          <p:cNvSpPr>
            <a:spLocks noGrp="1"/>
          </p:cNvSpPr>
          <p:nvPr/>
        </p:nvSpPr>
        <p:spPr>
          <a:xfrm>
            <a:off x="5572125" y="1981200"/>
            <a:ext cx="4857750" cy="13335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6EDB12D0-B249-45BF-A01C-0BE8E3D4F56F}"/>
              </a:ext>
            </a:extLst>
          </p:cNvPr>
          <p:cNvSpPr>
            <a:spLocks noGrp="1"/>
          </p:cNvSpPr>
          <p:nvPr/>
        </p:nvSpPr>
        <p:spPr>
          <a:xfrm>
            <a:off x="5572125" y="21145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cell responsibility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7103F480-28E1-41B6-B6EB-1758E5612FAE}"/>
              </a:ext>
            </a:extLst>
          </p:cNvPr>
          <p:cNvSpPr>
            <a:spLocks noGrp="1"/>
          </p:cNvSpPr>
          <p:nvPr/>
        </p:nvSpPr>
        <p:spPr>
          <a:xfrm>
            <a:off x="7810500" y="21336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object center falls inside exactly one grid cell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8AED9E12-CC63-4726-84CD-8194C4E0A57B}"/>
              </a:ext>
            </a:extLst>
          </p:cNvPr>
          <p:cNvSpPr>
            <a:spLocks noGrp="1"/>
          </p:cNvSpPr>
          <p:nvPr/>
        </p:nvSpPr>
        <p:spPr>
          <a:xfrm>
            <a:off x="5572125" y="2800350"/>
            <a:ext cx="4857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FDAF8F37-9FD5-4B61-A8C2-81E6BFC26C2E}"/>
              </a:ext>
            </a:extLst>
          </p:cNvPr>
          <p:cNvSpPr>
            <a:spLocks noGrp="1"/>
          </p:cNvSpPr>
          <p:nvPr/>
        </p:nvSpPr>
        <p:spPr>
          <a:xfrm>
            <a:off x="5572125" y="293370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 boxes + confidence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601E20EF-5726-4FEF-9F85-696298F6EBC2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box geometry and objectness are regressed</a:t>
            </a: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A1C23EAC-3C2D-4312-868B-43C5544F37BF}"/>
              </a:ext>
            </a:extLst>
          </p:cNvPr>
          <p:cNvSpPr>
            <a:spLocks noGrp="1"/>
          </p:cNvSpPr>
          <p:nvPr/>
        </p:nvSpPr>
        <p:spPr>
          <a:xfrm>
            <a:off x="5572125" y="3619500"/>
            <a:ext cx="4857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0E98295A-6F3F-473A-9F24-F26DF0DA237C}"/>
              </a:ext>
            </a:extLst>
          </p:cNvPr>
          <p:cNvSpPr>
            <a:spLocks noGrp="1"/>
          </p:cNvSpPr>
          <p:nvPr/>
        </p:nvSpPr>
        <p:spPr>
          <a:xfrm>
            <a:off x="5572125" y="3752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 probabilities</a:t>
            </a:r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CA3F3E65-AEEF-4309-8B5F-A7766F31B472}"/>
              </a:ext>
            </a:extLst>
          </p:cNvPr>
          <p:cNvSpPr>
            <a:spLocks noGrp="1"/>
          </p:cNvSpPr>
          <p:nvPr/>
        </p:nvSpPr>
        <p:spPr>
          <a:xfrm>
            <a:off x="7810500" y="37719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conditional class scores are attached to the responsible cell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D72DDECE-2DF4-486A-887F-578D4B5484F7}"/>
              </a:ext>
            </a:extLst>
          </p:cNvPr>
          <p:cNvSpPr>
            <a:spLocks noGrp="1"/>
          </p:cNvSpPr>
          <p:nvPr/>
        </p:nvSpPr>
        <p:spPr>
          <a:xfrm>
            <a:off x="5572125" y="4438650"/>
            <a:ext cx="4857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94D0EC4E-6399-4955-AB67-7D69610CE428}"/>
              </a:ext>
            </a:extLst>
          </p:cNvPr>
          <p:cNvSpPr>
            <a:spLocks noGrp="1"/>
          </p:cNvSpPr>
          <p:nvPr/>
        </p:nvSpPr>
        <p:spPr>
          <a:xfrm>
            <a:off x="5572125" y="457200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loss trade-off</a:t>
            </a:r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15595C93-B066-4309-9B0B-B6329C063352}"/>
              </a:ext>
            </a:extLst>
          </p:cNvPr>
          <p:cNvSpPr>
            <a:spLocks noGrp="1"/>
          </p:cNvSpPr>
          <p:nvPr/>
        </p:nvSpPr>
        <p:spPr>
          <a:xfrm>
            <a:off x="7810500" y="45910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fast global prediction, weaker small/overlapping-object handling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0F21F3C7-3E7A-4B74-A738-97E7BE480E0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Original formulation: S x S grid, B boxes per cell, class probabilities from full-image features.</a:t>
            </a:r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02AA7D50-1EB8-4FA9-B4B7-ED251977096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73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tangolo 36">
            <a:extLst>
              <a:ext uri="{FF2B5EF4-FFF2-40B4-BE49-F238E27FC236}">
                <a16:creationId xmlns:a16="http://schemas.microsoft.com/office/drawing/2014/main" id="{5A1EDD9B-A4DC-4DD2-9961-1F846D048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60423A15-B03F-42B8-902F-64FE0777B034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D5681A2A-2722-4E99-AF11-BD81B9417D37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EVOLUTION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3CEBEA3-B3CA-4C58-9787-32374521A83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YOLO’s upgrades moved the bottleneck from raw speed to accuracy, assignment and deployment.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A2E6CFC-37E9-448D-A685-A692C58F3B4C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10001250" cy="2857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C788FEE-D40B-491C-A801-EF7F13CA7201}"/>
              </a:ext>
            </a:extLst>
          </p:cNvPr>
          <p:cNvSpPr>
            <a:spLocks noGrp="1"/>
          </p:cNvSpPr>
          <p:nvPr/>
        </p:nvSpPr>
        <p:spPr>
          <a:xfrm>
            <a:off x="1066800" y="3362325"/>
            <a:ext cx="266700" cy="2667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62436C-386E-40C5-8192-777F33D1EEB0}"/>
              </a:ext>
            </a:extLst>
          </p:cNvPr>
          <p:cNvSpPr>
            <a:spLocks noGrp="1"/>
          </p:cNvSpPr>
          <p:nvPr/>
        </p:nvSpPr>
        <p:spPr>
          <a:xfrm>
            <a:off x="817685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2015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4EDFD36-A66C-4AE3-8449-FA8BDDEE0785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YOLOv1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F506617-8DFC-4C9C-8892-78D4CC75ED0A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single network, grid regression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51FDBC9-0781-4913-B2DA-E56393664ABA}"/>
              </a:ext>
            </a:extLst>
          </p:cNvPr>
          <p:cNvSpPr>
            <a:spLocks noGrp="1"/>
          </p:cNvSpPr>
          <p:nvPr/>
        </p:nvSpPr>
        <p:spPr>
          <a:xfrm>
            <a:off x="2667000" y="3362325"/>
            <a:ext cx="266700" cy="266700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330F816-1DC6-4E80-B6C4-FEC2BD394E2B}"/>
              </a:ext>
            </a:extLst>
          </p:cNvPr>
          <p:cNvSpPr>
            <a:spLocks noGrp="1"/>
          </p:cNvSpPr>
          <p:nvPr/>
        </p:nvSpPr>
        <p:spPr>
          <a:xfrm>
            <a:off x="2400300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47BA0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247BA0"/>
                </a:solidFill>
                <a:latin typeface="Aptos"/>
                <a:ea typeface="Aptos"/>
                <a:cs typeface="Aptos"/>
              </a:rPr>
              <a:t>2016-18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6ECFE3A-069A-4DD4-BAF3-9614AE80C971}"/>
              </a:ext>
            </a:extLst>
          </p:cNvPr>
          <p:cNvSpPr>
            <a:spLocks noGrp="1"/>
          </p:cNvSpPr>
          <p:nvPr/>
        </p:nvSpPr>
        <p:spPr>
          <a:xfrm>
            <a:off x="22669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v2 / v3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3FDCE7D-49B7-426E-9E87-12EE5FEBE77E}"/>
              </a:ext>
            </a:extLst>
          </p:cNvPr>
          <p:cNvSpPr>
            <a:spLocks noGrp="1"/>
          </p:cNvSpPr>
          <p:nvPr/>
        </p:nvSpPr>
        <p:spPr>
          <a:xfrm>
            <a:off x="20574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anchors, Darknet-53, multi-scale prediction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F52A384-2F77-4AC1-A47C-77680A15F6EA}"/>
              </a:ext>
            </a:extLst>
          </p:cNvPr>
          <p:cNvSpPr>
            <a:spLocks noGrp="1"/>
          </p:cNvSpPr>
          <p:nvPr/>
        </p:nvSpPr>
        <p:spPr>
          <a:xfrm>
            <a:off x="4267200" y="3362325"/>
            <a:ext cx="266700" cy="2667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B281DCE-0DBA-49B0-A6AB-5718E3B829A9}"/>
              </a:ext>
            </a:extLst>
          </p:cNvPr>
          <p:cNvSpPr>
            <a:spLocks noGrp="1"/>
          </p:cNvSpPr>
          <p:nvPr/>
        </p:nvSpPr>
        <p:spPr>
          <a:xfrm>
            <a:off x="4012956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2A9D8F"/>
                </a:solidFill>
                <a:latin typeface="Aptos"/>
                <a:ea typeface="Aptos"/>
                <a:cs typeface="Aptos"/>
              </a:rPr>
              <a:t>2020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990EA4F-EDC3-4885-9DE7-EFEC435E7651}"/>
              </a:ext>
            </a:extLst>
          </p:cNvPr>
          <p:cNvSpPr>
            <a:spLocks noGrp="1"/>
          </p:cNvSpPr>
          <p:nvPr/>
        </p:nvSpPr>
        <p:spPr>
          <a:xfrm>
            <a:off x="38671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v4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DAA29BD-0585-4BF7-BBE0-D6C38C7106B3}"/>
              </a:ext>
            </a:extLst>
          </p:cNvPr>
          <p:cNvSpPr>
            <a:spLocks noGrp="1"/>
          </p:cNvSpPr>
          <p:nvPr/>
        </p:nvSpPr>
        <p:spPr>
          <a:xfrm>
            <a:off x="36576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CSPDarknet, SPP/PAN, CIoU, Mosaic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00EE4B1-C75E-4046-BAA1-CF6BEF7BF723}"/>
              </a:ext>
            </a:extLst>
          </p:cNvPr>
          <p:cNvSpPr>
            <a:spLocks noGrp="1"/>
          </p:cNvSpPr>
          <p:nvPr/>
        </p:nvSpPr>
        <p:spPr>
          <a:xfrm>
            <a:off x="5867400" y="3362325"/>
            <a:ext cx="266700" cy="2667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00D2E78-7A8E-4936-912E-0A72A4D6940C}"/>
              </a:ext>
            </a:extLst>
          </p:cNvPr>
          <p:cNvSpPr>
            <a:spLocks noGrp="1"/>
          </p:cNvSpPr>
          <p:nvPr/>
        </p:nvSpPr>
        <p:spPr>
          <a:xfrm>
            <a:off x="5610225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4A261"/>
                </a:solidFill>
                <a:latin typeface="Aptos"/>
                <a:ea typeface="Aptos"/>
                <a:cs typeface="Aptos"/>
              </a:rPr>
              <a:t>2020-22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26209A6-28A7-4119-96EE-CC9592AE6B55}"/>
              </a:ext>
            </a:extLst>
          </p:cNvPr>
          <p:cNvSpPr>
            <a:spLocks noGrp="1"/>
          </p:cNvSpPr>
          <p:nvPr/>
        </p:nvSpPr>
        <p:spPr>
          <a:xfrm>
            <a:off x="54673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v5-v7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C81DFA9F-C7B6-43FB-A838-208D156A2FBB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PyTorch tooling, E-ELAN, trainable freebies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C75AA39-A096-430D-8723-C92068F7475C}"/>
              </a:ext>
            </a:extLst>
          </p:cNvPr>
          <p:cNvSpPr>
            <a:spLocks noGrp="1"/>
          </p:cNvSpPr>
          <p:nvPr/>
        </p:nvSpPr>
        <p:spPr>
          <a:xfrm>
            <a:off x="7467600" y="3362325"/>
            <a:ext cx="266700" cy="266700"/>
          </a:xfrm>
          <a:prstGeom prst="rect">
            <a:avLst/>
          </a:prstGeom>
          <a:solidFill>
            <a:srgbClr val="9B5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802F1489-272A-4FC0-9581-DB0864A62115}"/>
              </a:ext>
            </a:extLst>
          </p:cNvPr>
          <p:cNvSpPr>
            <a:spLocks noGrp="1"/>
          </p:cNvSpPr>
          <p:nvPr/>
        </p:nvSpPr>
        <p:spPr>
          <a:xfrm>
            <a:off x="7207494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9B5DE5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9B5DE5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D5AFB8D9-7305-481E-ACF2-E3D1A23EACAB}"/>
              </a:ext>
            </a:extLst>
          </p:cNvPr>
          <p:cNvSpPr>
            <a:spLocks noGrp="1"/>
          </p:cNvSpPr>
          <p:nvPr/>
        </p:nvSpPr>
        <p:spPr>
          <a:xfrm>
            <a:off x="70675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v8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7CD8A2CB-763F-4178-82A4-468F193BB47D}"/>
              </a:ext>
            </a:extLst>
          </p:cNvPr>
          <p:cNvSpPr>
            <a:spLocks noGrp="1"/>
          </p:cNvSpPr>
          <p:nvPr/>
        </p:nvSpPr>
        <p:spPr>
          <a:xfrm>
            <a:off x="68580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anchor-free, decoupled heads, multi-task family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DD2381A5-180C-41EB-A83A-A927288AE3DA}"/>
              </a:ext>
            </a:extLst>
          </p:cNvPr>
          <p:cNvSpPr>
            <a:spLocks noGrp="1"/>
          </p:cNvSpPr>
          <p:nvPr/>
        </p:nvSpPr>
        <p:spPr>
          <a:xfrm>
            <a:off x="9067800" y="3362325"/>
            <a:ext cx="266700" cy="266700"/>
          </a:xfrm>
          <a:prstGeom prst="rect">
            <a:avLst/>
          </a:prstGeom>
          <a:solidFill>
            <a:srgbClr val="00A6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4B018A3C-421C-4A96-93A4-1F8930477B93}"/>
              </a:ext>
            </a:extLst>
          </p:cNvPr>
          <p:cNvSpPr>
            <a:spLocks noGrp="1"/>
          </p:cNvSpPr>
          <p:nvPr/>
        </p:nvSpPr>
        <p:spPr>
          <a:xfrm>
            <a:off x="8810625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00A6A6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316CD35-8FED-4169-89B3-B0D5B50E271F}"/>
              </a:ext>
            </a:extLst>
          </p:cNvPr>
          <p:cNvSpPr>
            <a:spLocks noGrp="1"/>
          </p:cNvSpPr>
          <p:nvPr/>
        </p:nvSpPr>
        <p:spPr>
          <a:xfrm>
            <a:off x="86677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v10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66782CFC-2EC6-4D16-B0DD-C967C2CBE51C}"/>
              </a:ext>
            </a:extLst>
          </p:cNvPr>
          <p:cNvSpPr>
            <a:spLocks noGrp="1"/>
          </p:cNvSpPr>
          <p:nvPr/>
        </p:nvSpPr>
        <p:spPr>
          <a:xfrm>
            <a:off x="84582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end-to-end NMS-free training via dual assignment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672F3C3-7D64-4CC1-BC48-7AC8BBFA05DE}"/>
              </a:ext>
            </a:extLst>
          </p:cNvPr>
          <p:cNvSpPr>
            <a:spLocks noGrp="1"/>
          </p:cNvSpPr>
          <p:nvPr/>
        </p:nvSpPr>
        <p:spPr>
          <a:xfrm>
            <a:off x="10668000" y="3362325"/>
            <a:ext cx="266700" cy="2667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DE5FB1B-D50A-44C0-B314-EA4C9D024C67}"/>
              </a:ext>
            </a:extLst>
          </p:cNvPr>
          <p:cNvSpPr>
            <a:spLocks noGrp="1"/>
          </p:cNvSpPr>
          <p:nvPr/>
        </p:nvSpPr>
        <p:spPr>
          <a:xfrm>
            <a:off x="10410825" y="2978944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E63946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B8D2539-FCF9-4B01-8316-63B8682B9E77}"/>
              </a:ext>
            </a:extLst>
          </p:cNvPr>
          <p:cNvSpPr>
            <a:spLocks noGrp="1"/>
          </p:cNvSpPr>
          <p:nvPr/>
        </p:nvSpPr>
        <p:spPr>
          <a:xfrm>
            <a:off x="10267950" y="3752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B1D2DED7-D2FE-4FCB-9B95-44880B6DBC2B}"/>
              </a:ext>
            </a:extLst>
          </p:cNvPr>
          <p:cNvSpPr>
            <a:spLocks noGrp="1"/>
          </p:cNvSpPr>
          <p:nvPr/>
        </p:nvSpPr>
        <p:spPr>
          <a:xfrm>
            <a:off x="10058400" y="405765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edge-first NMS-free default, no DFL, MuSGD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45E40B71-3D33-4EE3-8834-A3ECE397D572}"/>
              </a:ext>
            </a:extLst>
          </p:cNvPr>
          <p:cNvSpPr>
            <a:spLocks noGrp="1"/>
          </p:cNvSpPr>
          <p:nvPr/>
        </p:nvSpPr>
        <p:spPr>
          <a:xfrm>
            <a:off x="1866900" y="5314950"/>
            <a:ext cx="847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Takeaway: the name “YOLO” now describes a design family, not one immutable paper implementation.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E89CEC20-61D8-4AD9-A3CC-D222AE7F7FA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Sources: YOLOv1, YOLOv4, YOLOv7, YOLOv10 papers; Ultralytics YOLO model docs.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DDDC0F8A-338D-44B1-A36A-3C6A0B5A206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523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tangolo 39">
            <a:extLst>
              <a:ext uri="{FF2B5EF4-FFF2-40B4-BE49-F238E27FC236}">
                <a16:creationId xmlns:a16="http://schemas.microsoft.com/office/drawing/2014/main" id="{7DF2DB61-73E2-41C0-84F6-4A42D15FC2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D4987086-DCA8-4FDE-8D81-851ED1F9FA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7728B4E8-1180-43D9-8C9B-A1E6B370879B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MODERN PIPELINE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7116F58-DD01-413A-A172-B34247010C1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current YOLO detector is a feature pyramid plus task heads, not just a 7 x 7 grid.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5BAEF6B-7E4F-4BD1-AD46-631EB31867D4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1619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79DBE99-9F31-4C3A-B6BC-00C381FA1500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1619250" cy="85725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6990634-2D37-47E3-8EBF-95FD4EB902FF}"/>
              </a:ext>
            </a:extLst>
          </p:cNvPr>
          <p:cNvSpPr>
            <a:spLocks noGrp="1"/>
          </p:cNvSpPr>
          <p:nvPr/>
        </p:nvSpPr>
        <p:spPr>
          <a:xfrm>
            <a:off x="933450" y="25908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23C789E-E6FA-4E48-A595-F33A157436A8}"/>
              </a:ext>
            </a:extLst>
          </p:cNvPr>
          <p:cNvSpPr>
            <a:spLocks noGrp="1"/>
          </p:cNvSpPr>
          <p:nvPr/>
        </p:nvSpPr>
        <p:spPr>
          <a:xfrm>
            <a:off x="933450" y="29146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resize / letterbox</a:t>
            </a:r>
          </a:p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augment at training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2CD1CC9-3FC4-4420-8C80-8AFFC41C68EA}"/>
              </a:ext>
            </a:extLst>
          </p:cNvPr>
          <p:cNvSpPr>
            <a:spLocks noGrp="1"/>
          </p:cNvSpPr>
          <p:nvPr/>
        </p:nvSpPr>
        <p:spPr>
          <a:xfrm>
            <a:off x="2552700" y="2838450"/>
            <a:ext cx="5143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038F017-1392-4434-B057-0AFDB6508D13}"/>
              </a:ext>
            </a:extLst>
          </p:cNvPr>
          <p:cNvSpPr>
            <a:spLocks noGrp="1"/>
          </p:cNvSpPr>
          <p:nvPr/>
        </p:nvSpPr>
        <p:spPr>
          <a:xfrm>
            <a:off x="2943225" y="2343150"/>
            <a:ext cx="1619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E9D6725-4C1F-4298-90C8-F5A45595B9B0}"/>
              </a:ext>
            </a:extLst>
          </p:cNvPr>
          <p:cNvSpPr>
            <a:spLocks noGrp="1"/>
          </p:cNvSpPr>
          <p:nvPr/>
        </p:nvSpPr>
        <p:spPr>
          <a:xfrm>
            <a:off x="2943225" y="2343150"/>
            <a:ext cx="1619250" cy="85725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9420A74-5C19-47D9-8C44-FF10A69F5C2F}"/>
              </a:ext>
            </a:extLst>
          </p:cNvPr>
          <p:cNvSpPr>
            <a:spLocks noGrp="1"/>
          </p:cNvSpPr>
          <p:nvPr/>
        </p:nvSpPr>
        <p:spPr>
          <a:xfrm>
            <a:off x="3076575" y="25908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7AB4610-80F0-40F0-89EA-118DAC5B427E}"/>
              </a:ext>
            </a:extLst>
          </p:cNvPr>
          <p:cNvSpPr>
            <a:spLocks noGrp="1"/>
          </p:cNvSpPr>
          <p:nvPr/>
        </p:nvSpPr>
        <p:spPr>
          <a:xfrm>
            <a:off x="3076575" y="29146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extract features</a:t>
            </a:r>
          </a:p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at multiple depths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D6AA835-DEB5-451A-BC04-764A43061201}"/>
              </a:ext>
            </a:extLst>
          </p:cNvPr>
          <p:cNvSpPr>
            <a:spLocks noGrp="1"/>
          </p:cNvSpPr>
          <p:nvPr/>
        </p:nvSpPr>
        <p:spPr>
          <a:xfrm>
            <a:off x="4695825" y="2838450"/>
            <a:ext cx="5143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898E5CF-57F1-4812-A288-A895337DF02D}"/>
              </a:ext>
            </a:extLst>
          </p:cNvPr>
          <p:cNvSpPr>
            <a:spLocks noGrp="1"/>
          </p:cNvSpPr>
          <p:nvPr/>
        </p:nvSpPr>
        <p:spPr>
          <a:xfrm>
            <a:off x="5086350" y="2343150"/>
            <a:ext cx="1619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886B076-E69E-4B12-99E0-FC831BF0EACE}"/>
              </a:ext>
            </a:extLst>
          </p:cNvPr>
          <p:cNvSpPr>
            <a:spLocks noGrp="1"/>
          </p:cNvSpPr>
          <p:nvPr/>
        </p:nvSpPr>
        <p:spPr>
          <a:xfrm>
            <a:off x="5086350" y="2343150"/>
            <a:ext cx="1619250" cy="85725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FA90395-E83C-4C6F-A833-6DF12533F244}"/>
              </a:ext>
            </a:extLst>
          </p:cNvPr>
          <p:cNvSpPr>
            <a:spLocks noGrp="1"/>
          </p:cNvSpPr>
          <p:nvPr/>
        </p:nvSpPr>
        <p:spPr>
          <a:xfrm>
            <a:off x="5219700" y="25908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Neck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5FE75EA-1199-4309-B4A7-986A5CD9541A}"/>
              </a:ext>
            </a:extLst>
          </p:cNvPr>
          <p:cNvSpPr>
            <a:spLocks noGrp="1"/>
          </p:cNvSpPr>
          <p:nvPr/>
        </p:nvSpPr>
        <p:spPr>
          <a:xfrm>
            <a:off x="5219700" y="29146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fuse semantics + detail</a:t>
            </a:r>
          </a:p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FPN / PAN-style paths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D9B16FA-BACE-4114-A5F7-F3A6577A89D2}"/>
              </a:ext>
            </a:extLst>
          </p:cNvPr>
          <p:cNvSpPr>
            <a:spLocks noGrp="1"/>
          </p:cNvSpPr>
          <p:nvPr/>
        </p:nvSpPr>
        <p:spPr>
          <a:xfrm>
            <a:off x="6838950" y="2838450"/>
            <a:ext cx="5143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725BFC1-22CC-42B6-805D-10EB59345AFF}"/>
              </a:ext>
            </a:extLst>
          </p:cNvPr>
          <p:cNvSpPr>
            <a:spLocks noGrp="1"/>
          </p:cNvSpPr>
          <p:nvPr/>
        </p:nvSpPr>
        <p:spPr>
          <a:xfrm>
            <a:off x="7229475" y="2343150"/>
            <a:ext cx="1619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2B1C735-DBB5-434F-AE39-319EBA8D6558}"/>
              </a:ext>
            </a:extLst>
          </p:cNvPr>
          <p:cNvSpPr>
            <a:spLocks noGrp="1"/>
          </p:cNvSpPr>
          <p:nvPr/>
        </p:nvSpPr>
        <p:spPr>
          <a:xfrm>
            <a:off x="7229475" y="2343150"/>
            <a:ext cx="1619250" cy="85725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994BCEB-7647-4795-A23E-A0804B957A6E}"/>
              </a:ext>
            </a:extLst>
          </p:cNvPr>
          <p:cNvSpPr>
            <a:spLocks noGrp="1"/>
          </p:cNvSpPr>
          <p:nvPr/>
        </p:nvSpPr>
        <p:spPr>
          <a:xfrm>
            <a:off x="7362825" y="25908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Head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E735C79-8A1D-45EE-84C1-E00DC3FBBD8B}"/>
              </a:ext>
            </a:extLst>
          </p:cNvPr>
          <p:cNvSpPr>
            <a:spLocks noGrp="1"/>
          </p:cNvSpPr>
          <p:nvPr/>
        </p:nvSpPr>
        <p:spPr>
          <a:xfrm>
            <a:off x="7362825" y="29146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class + box outputs</a:t>
            </a:r>
          </a:p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per scale or end-to-end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42A297F-FEBF-4CB1-9717-1CB95ED0204C}"/>
              </a:ext>
            </a:extLst>
          </p:cNvPr>
          <p:cNvSpPr>
            <a:spLocks noGrp="1"/>
          </p:cNvSpPr>
          <p:nvPr/>
        </p:nvSpPr>
        <p:spPr>
          <a:xfrm>
            <a:off x="8982075" y="2838450"/>
            <a:ext cx="51435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650559F9-DF28-4787-9E60-D076C55701DD}"/>
              </a:ext>
            </a:extLst>
          </p:cNvPr>
          <p:cNvSpPr>
            <a:spLocks noGrp="1"/>
          </p:cNvSpPr>
          <p:nvPr/>
        </p:nvSpPr>
        <p:spPr>
          <a:xfrm>
            <a:off x="9372600" y="2343150"/>
            <a:ext cx="1619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633112F-1389-4FD8-A932-840D8B54115F}"/>
              </a:ext>
            </a:extLst>
          </p:cNvPr>
          <p:cNvSpPr>
            <a:spLocks noGrp="1"/>
          </p:cNvSpPr>
          <p:nvPr/>
        </p:nvSpPr>
        <p:spPr>
          <a:xfrm>
            <a:off x="9372600" y="2343150"/>
            <a:ext cx="1619250" cy="85725"/>
          </a:xfrm>
          <a:prstGeom prst="rect">
            <a:avLst/>
          </a:prstGeom>
          <a:solidFill>
            <a:srgbClr val="9B5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4E190269-091D-4A96-B5F7-E43AD53162A5}"/>
              </a:ext>
            </a:extLst>
          </p:cNvPr>
          <p:cNvSpPr>
            <a:spLocks noGrp="1"/>
          </p:cNvSpPr>
          <p:nvPr/>
        </p:nvSpPr>
        <p:spPr>
          <a:xfrm>
            <a:off x="9505950" y="25908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E79555E0-7D46-4654-8A05-A1115EA216B5}"/>
              </a:ext>
            </a:extLst>
          </p:cNvPr>
          <p:cNvSpPr>
            <a:spLocks noGrp="1"/>
          </p:cNvSpPr>
          <p:nvPr/>
        </p:nvSpPr>
        <p:spPr>
          <a:xfrm>
            <a:off x="9505950" y="29146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boxes, labels, scores</a:t>
            </a:r>
          </a:p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NMS optional in YOLO26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ACEB4D50-78B1-439E-97CC-C54039F79380}"/>
              </a:ext>
            </a:extLst>
          </p:cNvPr>
          <p:cNvSpPr>
            <a:spLocks noGrp="1"/>
          </p:cNvSpPr>
          <p:nvPr/>
        </p:nvSpPr>
        <p:spPr>
          <a:xfrm>
            <a:off x="1695450" y="4343400"/>
            <a:ext cx="838200" cy="419100"/>
          </a:xfrm>
          <a:prstGeom prst="rect">
            <a:avLst/>
          </a:prstGeom>
          <a:solidFill>
            <a:srgbClr val="E8F5F2"/>
          </a:solidFill>
          <a:ln w="952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FBBA8AF-3276-4CC0-8F1D-C16875FA9099}"/>
              </a:ext>
            </a:extLst>
          </p:cNvPr>
          <p:cNvSpPr>
            <a:spLocks noGrp="1"/>
          </p:cNvSpPr>
          <p:nvPr/>
        </p:nvSpPr>
        <p:spPr>
          <a:xfrm>
            <a:off x="1790700" y="44386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FE351240-A659-4582-B586-657C1F76522F}"/>
              </a:ext>
            </a:extLst>
          </p:cNvPr>
          <p:cNvSpPr>
            <a:spLocks noGrp="1"/>
          </p:cNvSpPr>
          <p:nvPr/>
        </p:nvSpPr>
        <p:spPr>
          <a:xfrm>
            <a:off x="2876550" y="4171950"/>
            <a:ext cx="1028700" cy="590550"/>
          </a:xfrm>
          <a:prstGeom prst="rect">
            <a:avLst/>
          </a:prstGeom>
          <a:solidFill>
            <a:srgbClr val="E8F5F2"/>
          </a:solidFill>
          <a:ln w="952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9488CC7D-48C6-41A0-9062-DE0E0D226D39}"/>
              </a:ext>
            </a:extLst>
          </p:cNvPr>
          <p:cNvSpPr>
            <a:spLocks noGrp="1"/>
          </p:cNvSpPr>
          <p:nvPr/>
        </p:nvSpPr>
        <p:spPr>
          <a:xfrm>
            <a:off x="2971800" y="42672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A472930E-416F-4E81-B162-32CADFDB90B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1257300" cy="800100"/>
          </a:xfrm>
          <a:prstGeom prst="rect">
            <a:avLst/>
          </a:prstGeom>
          <a:solidFill>
            <a:srgbClr val="E8F5F2"/>
          </a:solidFill>
          <a:ln w="952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F976936A-5093-47B4-8BDE-AAD616EEC2BB}"/>
              </a:ext>
            </a:extLst>
          </p:cNvPr>
          <p:cNvSpPr>
            <a:spLocks noGrp="1"/>
          </p:cNvSpPr>
          <p:nvPr/>
        </p:nvSpPr>
        <p:spPr>
          <a:xfrm>
            <a:off x="4381500" y="40576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P5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F27F932E-C073-49C4-A80E-CA609ED3AD79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4267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The neck is where modern detectors recover the original YOLO weakness on small objects: shallow high-resolution features are merged with deeper semantic features before prediction.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C4C9349F-E832-447F-8714-E60325CBE5A7}"/>
              </a:ext>
            </a:extLst>
          </p:cNvPr>
          <p:cNvSpPr>
            <a:spLocks noGrp="1"/>
          </p:cNvSpPr>
          <p:nvPr/>
        </p:nvSpPr>
        <p:spPr>
          <a:xfrm>
            <a:off x="6191250" y="5029200"/>
            <a:ext cx="4267200" cy="14288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3DC6F577-A0A4-4159-A1E3-6EF9E17D3A17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4267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Anchor-free and decoupled-head variants separate classification and localization signals, making optimization easier than the earliest coupled YOLO head.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434C7C43-9478-419C-AB1B-9C081E57A0E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Modern YOLO pattern summarized from Ultralytics YOLOv8/YOLO11/YOLO26 docs and YOLO literature.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C080F85B-A3A9-4C7E-9EE2-F829BC67A8F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8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tangolo 31">
            <a:extLst>
              <a:ext uri="{FF2B5EF4-FFF2-40B4-BE49-F238E27FC236}">
                <a16:creationId xmlns:a16="http://schemas.microsoft.com/office/drawing/2014/main" id="{E1B564BB-270D-40A6-93C9-B9FE8BFC02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DF578750-865A-4819-9F9F-FA785B27BDB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F0D8D8FB-9722-45F0-A0E1-CCC69810C4BC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YOLO26 FOCUS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23002DD-AAD5-42E7-B500-BFEC27442A1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YOLO26’s headline is not a bigger network; it is a cleaner edge deployment path.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2CC07EA-FCDD-470A-A44E-62A92854C8D8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6EA77CE-31F4-4369-A8C0-DE5BAA966B90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66675" cy="11620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9FBD444-78DC-4FF5-BAA3-5C9C5B1D0973}"/>
              </a:ext>
            </a:extLst>
          </p:cNvPr>
          <p:cNvSpPr>
            <a:spLocks noGrp="1"/>
          </p:cNvSpPr>
          <p:nvPr/>
        </p:nvSpPr>
        <p:spPr>
          <a:xfrm>
            <a:off x="933450" y="21621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NMS-free default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B008CF3-0166-4FA9-BFCF-9126FFC53F81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The one-to-one head produces direct predictions without Non-Maximum Suppression.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4458A34-05A1-4DF5-AA76-82EC03FB8920}"/>
              </a:ext>
            </a:extLst>
          </p:cNvPr>
          <p:cNvSpPr>
            <a:spLocks noGrp="1"/>
          </p:cNvSpPr>
          <p:nvPr/>
        </p:nvSpPr>
        <p:spPr>
          <a:xfrm>
            <a:off x="4533900" y="20383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4DCE8FC-22EF-49DE-84D6-3CEAC479F0A6}"/>
              </a:ext>
            </a:extLst>
          </p:cNvPr>
          <p:cNvSpPr>
            <a:spLocks noGrp="1"/>
          </p:cNvSpPr>
          <p:nvPr/>
        </p:nvSpPr>
        <p:spPr>
          <a:xfrm>
            <a:off x="4533900" y="2038350"/>
            <a:ext cx="66675" cy="1162050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C5D2F86-376F-4367-AE7E-59B246714F1A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DFL removed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A149BCE-95A3-4E0E-B6B6-62984032042D}"/>
              </a:ext>
            </a:extLst>
          </p:cNvPr>
          <p:cNvSpPr>
            <a:spLocks noGrp="1"/>
          </p:cNvSpPr>
          <p:nvPr/>
        </p:nvSpPr>
        <p:spPr>
          <a:xfrm>
            <a:off x="4705350" y="24193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Distribution Focal Loss is removed to simplify export and hardware compatibility.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A75ADE3-913D-449A-95C7-26932CB22024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49361EF-F871-44D9-BC60-8319D5C17712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66675" cy="11620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E92AEEA-89E0-486E-8B58-07C3C2CC4299}"/>
              </a:ext>
            </a:extLst>
          </p:cNvPr>
          <p:cNvSpPr>
            <a:spLocks noGrp="1"/>
          </p:cNvSpPr>
          <p:nvPr/>
        </p:nvSpPr>
        <p:spPr>
          <a:xfrm>
            <a:off x="8477250" y="21621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ProgLoss + STAL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E76C8F6-1B4A-4F49-8A71-5F5374F3D548}"/>
              </a:ext>
            </a:extLst>
          </p:cNvPr>
          <p:cNvSpPr>
            <a:spLocks noGrp="1"/>
          </p:cNvSpPr>
          <p:nvPr/>
        </p:nvSpPr>
        <p:spPr>
          <a:xfrm>
            <a:off x="8477250" y="24193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Loss and assignment updates target small-object accuracy, a recurring YOLO pain point.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38CFBC9-C86E-4708-BF08-D38FFA50067A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51E4D00-FAB6-46F7-9CE1-B43283733C75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66675" cy="116205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26D85C3-0C17-4DC5-8F13-DF0A8DB87627}"/>
              </a:ext>
            </a:extLst>
          </p:cNvPr>
          <p:cNvSpPr>
            <a:spLocks noGrp="1"/>
          </p:cNvSpPr>
          <p:nvPr/>
        </p:nvSpPr>
        <p:spPr>
          <a:xfrm>
            <a:off x="933450" y="40290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MuSGD optimizer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79C8AD1-C7AF-4751-90DA-4EBFA12AE6A3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Hybrid SGD + Muon-style optimization is positioned as faster, more stable convergence.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73C74BD-A342-42AB-86F6-851D8CDEE813}"/>
              </a:ext>
            </a:extLst>
          </p:cNvPr>
          <p:cNvSpPr>
            <a:spLocks noGrp="1"/>
          </p:cNvSpPr>
          <p:nvPr/>
        </p:nvSpPr>
        <p:spPr>
          <a:xfrm>
            <a:off x="4533900" y="39052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2CFFC59-9B83-4260-9C7D-FBBE8D0895D6}"/>
              </a:ext>
            </a:extLst>
          </p:cNvPr>
          <p:cNvSpPr>
            <a:spLocks noGrp="1"/>
          </p:cNvSpPr>
          <p:nvPr/>
        </p:nvSpPr>
        <p:spPr>
          <a:xfrm>
            <a:off x="4533900" y="3905250"/>
            <a:ext cx="66675" cy="1162050"/>
          </a:xfrm>
          <a:prstGeom prst="rect">
            <a:avLst/>
          </a:prstGeom>
          <a:solidFill>
            <a:srgbClr val="9B5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BEEFC5E-5941-43EF-815E-B9E5488CF254}"/>
              </a:ext>
            </a:extLst>
          </p:cNvPr>
          <p:cNvSpPr>
            <a:spLocks noGrp="1"/>
          </p:cNvSpPr>
          <p:nvPr/>
        </p:nvSpPr>
        <p:spPr>
          <a:xfrm>
            <a:off x="4705350" y="40290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Multi-task family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B655B52-6430-4302-97F5-5B5CD45626D2}"/>
              </a:ext>
            </a:extLst>
          </p:cNvPr>
          <p:cNvSpPr>
            <a:spLocks noGrp="1"/>
          </p:cNvSpPr>
          <p:nvPr/>
        </p:nvSpPr>
        <p:spPr>
          <a:xfrm>
            <a:off x="4705350" y="42862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Detection, segmentation, pose, OBB and classification share one deployment ecosystem.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84D9836-687A-4DB1-B850-66013AC77A7A}"/>
              </a:ext>
            </a:extLst>
          </p:cNvPr>
          <p:cNvSpPr>
            <a:spLocks noGrp="1"/>
          </p:cNvSpPr>
          <p:nvPr/>
        </p:nvSpPr>
        <p:spPr>
          <a:xfrm>
            <a:off x="8305800" y="3905250"/>
            <a:ext cx="3028950" cy="11620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3C1DE197-F7A5-45E1-8EF7-2E6B91AB0D78}"/>
              </a:ext>
            </a:extLst>
          </p:cNvPr>
          <p:cNvSpPr>
            <a:spLocks noGrp="1"/>
          </p:cNvSpPr>
          <p:nvPr/>
        </p:nvSpPr>
        <p:spPr>
          <a:xfrm>
            <a:off x="8305800" y="3905250"/>
            <a:ext cx="66675" cy="1162050"/>
          </a:xfrm>
          <a:prstGeom prst="rect">
            <a:avLst/>
          </a:prstGeom>
          <a:solidFill>
            <a:srgbClr val="00A6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9CE2321D-A030-4494-B729-EB5E79B66481}"/>
              </a:ext>
            </a:extLst>
          </p:cNvPr>
          <p:cNvSpPr>
            <a:spLocks noGrp="1"/>
          </p:cNvSpPr>
          <p:nvPr/>
        </p:nvSpPr>
        <p:spPr>
          <a:xfrm>
            <a:off x="8477250" y="402907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CPU speed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D09EC30-DEC0-439D-A85E-8CB3B11251FC}"/>
              </a:ext>
            </a:extLst>
          </p:cNvPr>
          <p:cNvSpPr>
            <a:spLocks noGrp="1"/>
          </p:cNvSpPr>
          <p:nvPr/>
        </p:nvSpPr>
        <p:spPr>
          <a:xfrm>
            <a:off x="8477250" y="4286250"/>
            <a:ext cx="2762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Ultralytics reports up to 43% faster CPU inference, aimed at low-power devices.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C449BD46-D8EB-403A-9861-1B23D742AA93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Important caveat for an academic presentation: Ultralytics states that YOLO26 has no formal research paper; the official docs and code are the primary release references.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446451C-C103-4A5E-BF7F-5F812211CD6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Source: Ultralytics YOLO26 documentation, release available January 14, 2026.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7083879C-55EA-4612-86C3-06ADB836016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270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tangolo 26">
            <a:extLst>
              <a:ext uri="{FF2B5EF4-FFF2-40B4-BE49-F238E27FC236}">
                <a16:creationId xmlns:a16="http://schemas.microsoft.com/office/drawing/2014/main" id="{949BBE35-B207-47ED-BEE4-53A6701D346D}"/>
              </a:ext>
            </a:extLst>
          </p:cNvPr>
          <p:cNvSpPr>
            <a:spLocks noGrp="1"/>
          </p:cNvSpPr>
          <p:nvPr/>
        </p:nvSpPr>
        <p:spPr>
          <a:xfrm>
            <a:off x="-327025" y="-36195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5B1ABAB8-6402-4D4E-AC97-DEA1ED67A5A6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E7697808-BC3C-4BE5-A299-70F8BC9B1283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DUAL HEAD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111B17E-7960-44FB-8250-5C1E8049531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YOLO26 keeps two inference personalities: deployment-clean or accuracy-biased.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E2544ED-29F5-416F-B9E7-3A520985E792}"/>
              </a:ext>
            </a:extLst>
          </p:cNvPr>
          <p:cNvSpPr>
            <a:spLocks noGrp="1"/>
          </p:cNvSpPr>
          <p:nvPr/>
        </p:nvSpPr>
        <p:spPr>
          <a:xfrm>
            <a:off x="876300" y="2996135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E866556-B062-4957-8E03-77FAB70B78EF}"/>
              </a:ext>
            </a:extLst>
          </p:cNvPr>
          <p:cNvSpPr>
            <a:spLocks noGrp="1"/>
          </p:cNvSpPr>
          <p:nvPr/>
        </p:nvSpPr>
        <p:spPr>
          <a:xfrm>
            <a:off x="1104900" y="328188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features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6983C35-631A-41B3-A165-3D00CF20DF64}"/>
              </a:ext>
            </a:extLst>
          </p:cNvPr>
          <p:cNvSpPr>
            <a:spLocks noGrp="1"/>
          </p:cNvSpPr>
          <p:nvPr/>
        </p:nvSpPr>
        <p:spPr>
          <a:xfrm>
            <a:off x="3162300" y="3434285"/>
            <a:ext cx="1143000" cy="38100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5805C36-FE73-42FB-80D8-5AB45102CFF4}"/>
              </a:ext>
            </a:extLst>
          </p:cNvPr>
          <p:cNvSpPr>
            <a:spLocks noGrp="1"/>
          </p:cNvSpPr>
          <p:nvPr/>
        </p:nvSpPr>
        <p:spPr>
          <a:xfrm>
            <a:off x="4819650" y="2000250"/>
            <a:ext cx="3143250" cy="1123950"/>
          </a:xfrm>
          <a:prstGeom prst="rect">
            <a:avLst/>
          </a:prstGeom>
          <a:solidFill>
            <a:srgbClr val="FFFFFF"/>
          </a:solidFill>
          <a:ln w="1714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EDA2A29-CAE6-482C-AEF1-EC24E10288C7}"/>
              </a:ext>
            </a:extLst>
          </p:cNvPr>
          <p:cNvSpPr>
            <a:spLocks noGrp="1"/>
          </p:cNvSpPr>
          <p:nvPr/>
        </p:nvSpPr>
        <p:spPr>
          <a:xfrm>
            <a:off x="5029200" y="21717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One-to-one head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2588445-3AF5-43EE-9BA8-E0C4AE39702A}"/>
              </a:ext>
            </a:extLst>
          </p:cNvPr>
          <p:cNvSpPr>
            <a:spLocks noGrp="1"/>
          </p:cNvSpPr>
          <p:nvPr/>
        </p:nvSpPr>
        <p:spPr>
          <a:xfrm>
            <a:off x="5029200" y="2514600"/>
            <a:ext cx="2686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Default. Direct end-to-end output, no NMS. Shape: (N, 300, 6).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C8D38E8-7578-4CAF-B743-6E320BB11B54}"/>
              </a:ext>
            </a:extLst>
          </p:cNvPr>
          <p:cNvSpPr>
            <a:spLocks noGrp="1"/>
          </p:cNvSpPr>
          <p:nvPr/>
        </p:nvSpPr>
        <p:spPr>
          <a:xfrm>
            <a:off x="4351020" y="2506981"/>
            <a:ext cx="452756" cy="45719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3A722F7-9816-4F71-8D15-F3075B81F9BB}"/>
              </a:ext>
            </a:extLst>
          </p:cNvPr>
          <p:cNvSpPr>
            <a:spLocks noGrp="1"/>
          </p:cNvSpPr>
          <p:nvPr/>
        </p:nvSpPr>
        <p:spPr>
          <a:xfrm>
            <a:off x="4819650" y="3657600"/>
            <a:ext cx="3143250" cy="1123950"/>
          </a:xfrm>
          <a:prstGeom prst="rect">
            <a:avLst/>
          </a:prstGeom>
          <a:solidFill>
            <a:srgbClr val="FFFFFF"/>
          </a:solidFill>
          <a:ln w="1714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17CAF5B-1A74-47A0-91D1-3B14C1F3D41F}"/>
              </a:ext>
            </a:extLst>
          </p:cNvPr>
          <p:cNvSpPr>
            <a:spLocks noGrp="1"/>
          </p:cNvSpPr>
          <p:nvPr/>
        </p:nvSpPr>
        <p:spPr>
          <a:xfrm>
            <a:off x="5029200" y="3829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One-to-many head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E796425C-1F9F-492C-9D71-4272A77E0EEE}"/>
              </a:ext>
            </a:extLst>
          </p:cNvPr>
          <p:cNvSpPr>
            <a:spLocks noGrp="1"/>
          </p:cNvSpPr>
          <p:nvPr/>
        </p:nvSpPr>
        <p:spPr>
          <a:xfrm>
            <a:off x="5029200" y="4171950"/>
            <a:ext cx="2686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Traditional YOLO output with NMS. Shape: (N, nc + 4, 8400).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B6969BB-6E84-46CA-92D5-F5290E37F0CC}"/>
              </a:ext>
            </a:extLst>
          </p:cNvPr>
          <p:cNvSpPr>
            <a:spLocks noGrp="1"/>
          </p:cNvSpPr>
          <p:nvPr/>
        </p:nvSpPr>
        <p:spPr>
          <a:xfrm>
            <a:off x="4351017" y="4183381"/>
            <a:ext cx="452756" cy="45719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9A529E2-67E1-4BD8-968D-81B32C31084C}"/>
              </a:ext>
            </a:extLst>
          </p:cNvPr>
          <p:cNvSpPr>
            <a:spLocks noGrp="1"/>
          </p:cNvSpPr>
          <p:nvPr/>
        </p:nvSpPr>
        <p:spPr>
          <a:xfrm>
            <a:off x="8401050" y="2000250"/>
            <a:ext cx="2476500" cy="27813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7658819-1F29-4DAA-B71B-BB7BD4ADA570}"/>
              </a:ext>
            </a:extLst>
          </p:cNvPr>
          <p:cNvSpPr>
            <a:spLocks noGrp="1"/>
          </p:cNvSpPr>
          <p:nvPr/>
        </p:nvSpPr>
        <p:spPr>
          <a:xfrm>
            <a:off x="8667750" y="2286000"/>
            <a:ext cx="196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Decision rule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33DCE02E-A8D0-45A8-B1DB-2BEE9C9E9129}"/>
              </a:ext>
            </a:extLst>
          </p:cNvPr>
          <p:cNvSpPr>
            <a:spLocks noGrp="1"/>
          </p:cNvSpPr>
          <p:nvPr/>
        </p:nvSpPr>
        <p:spPr>
          <a:xfrm>
            <a:off x="8667750" y="2819400"/>
            <a:ext cx="18669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1CEA46F-4C53-4F22-AC06-620E2662348F}"/>
              </a:ext>
            </a:extLst>
          </p:cNvPr>
          <p:cNvSpPr>
            <a:spLocks noGrp="1"/>
          </p:cNvSpPr>
          <p:nvPr/>
        </p:nvSpPr>
        <p:spPr>
          <a:xfrm>
            <a:off x="8782050" y="2876550"/>
            <a:ext cx="1638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Use end2end=True for deployment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8E89B8B7-6D1D-4A02-B9CF-6143B7DA20AD}"/>
              </a:ext>
            </a:extLst>
          </p:cNvPr>
          <p:cNvSpPr>
            <a:spLocks noGrp="1"/>
          </p:cNvSpPr>
          <p:nvPr/>
        </p:nvSpPr>
        <p:spPr>
          <a:xfrm>
            <a:off x="8667750" y="3276600"/>
            <a:ext cx="209550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B5308F6-4A85-4A71-AD78-BF86BCBDB00C}"/>
              </a:ext>
            </a:extLst>
          </p:cNvPr>
          <p:cNvSpPr>
            <a:spLocks noGrp="1"/>
          </p:cNvSpPr>
          <p:nvPr/>
        </p:nvSpPr>
        <p:spPr>
          <a:xfrm>
            <a:off x="8782050" y="33337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Use end2end=False when NMS is acceptable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C790173-B003-40C9-8EED-CDD744E8E26B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1924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D1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D6"/>
                </a:solidFill>
                <a:latin typeface="Aptos"/>
                <a:ea typeface="Aptos"/>
                <a:cs typeface="Aptos"/>
              </a:rPr>
              <a:t>The engineering gain is operational: fewer post-processing dependencies, fewer export edge cases, and lower latency variance.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7AFB8399-1A47-431E-AEEF-659C7B17509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Source: Ultralytics YOLO26 docs, Dual-Head Architecture section.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E63CE48-E0FD-4B89-B8FA-5D95924CF36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EB5EEFE0-4981-5EBF-C284-2AA0496EA6C1}"/>
              </a:ext>
            </a:extLst>
          </p:cNvPr>
          <p:cNvSpPr>
            <a:spLocks noGrp="1"/>
          </p:cNvSpPr>
          <p:nvPr/>
        </p:nvSpPr>
        <p:spPr>
          <a:xfrm rot="5400000">
            <a:off x="3845457" y="2966825"/>
            <a:ext cx="965403" cy="45719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59C24DF4-F79D-B1FD-9BF7-ECE75CB4C7CA}"/>
              </a:ext>
            </a:extLst>
          </p:cNvPr>
          <p:cNvSpPr>
            <a:spLocks noGrp="1"/>
          </p:cNvSpPr>
          <p:nvPr/>
        </p:nvSpPr>
        <p:spPr>
          <a:xfrm rot="5400000">
            <a:off x="3833288" y="3711371"/>
            <a:ext cx="989738" cy="45719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4D2E9A3-170E-4DD2-BE5D-6AEFEBA12B54}"/>
              </a:ext>
            </a:extLst>
          </p:cNvPr>
          <p:cNvSpPr>
            <a:spLocks noGrp="1"/>
          </p:cNvSpPr>
          <p:nvPr/>
        </p:nvSpPr>
        <p:spPr>
          <a:xfrm>
            <a:off x="4819650" y="3657600"/>
            <a:ext cx="76200" cy="1123950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9939425-C049-4CB9-9C81-905B8BDFC6E5}"/>
              </a:ext>
            </a:extLst>
          </p:cNvPr>
          <p:cNvSpPr>
            <a:spLocks noGrp="1"/>
          </p:cNvSpPr>
          <p:nvPr/>
        </p:nvSpPr>
        <p:spPr>
          <a:xfrm>
            <a:off x="4819650" y="2000250"/>
            <a:ext cx="76200" cy="11239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77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tangolo 37">
            <a:extLst>
              <a:ext uri="{FF2B5EF4-FFF2-40B4-BE49-F238E27FC236}">
                <a16:creationId xmlns:a16="http://schemas.microsoft.com/office/drawing/2014/main" id="{620A1A6D-60C4-4B3B-8C14-51EFCC3D5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DA6D088C-5DE3-4599-A3A1-88E0F63B6F13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19D3ECFC-19DB-40F0-B02D-AD6A6368C728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TRAINING LOOP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84FC83F-82C7-4F57-A957-7EF84EB41AA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Most YOLO gains now come from assignment, loss design and data discipline.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2821CA1-06C4-458B-8D1E-94CDDC863A4D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57ADB19-5769-4A04-AF45-D1F9D66FE378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400050" cy="4000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0757445-31A7-4389-855E-AE9CA902E72F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77F4504-4A49-4816-BA5F-36B8AC7A8899}"/>
              </a:ext>
            </a:extLst>
          </p:cNvPr>
          <p:cNvSpPr>
            <a:spLocks noGrp="1"/>
          </p:cNvSpPr>
          <p:nvPr/>
        </p:nvSpPr>
        <p:spPr>
          <a:xfrm>
            <a:off x="154305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B0A49AF-6D08-4ADB-A7DE-50B91B5FD0FA}"/>
              </a:ext>
            </a:extLst>
          </p:cNvPr>
          <p:cNvSpPr>
            <a:spLocks noGrp="1"/>
          </p:cNvSpPr>
          <p:nvPr/>
        </p:nvSpPr>
        <p:spPr>
          <a:xfrm>
            <a:off x="1543050" y="26860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labels, class balance,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image quality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22A2B87-CFC6-4BE4-93A6-D57BE2CB2284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194CE57-7ACB-4FC6-911B-9FBBA0A0D579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400050" cy="4000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76EF14-9E9C-4C36-B11D-6A73D4ED25C2}"/>
              </a:ext>
            </a:extLst>
          </p:cNvPr>
          <p:cNvSpPr>
            <a:spLocks noGrp="1"/>
          </p:cNvSpPr>
          <p:nvPr/>
        </p:nvSpPr>
        <p:spPr>
          <a:xfrm>
            <a:off x="4495800" y="24574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60E0FBF-C066-4598-8B1C-A038AFB7706A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Augment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431CC15-29F6-456E-8442-0E6BA3F3F8D3}"/>
              </a:ext>
            </a:extLst>
          </p:cNvPr>
          <p:cNvSpPr>
            <a:spLocks noGrp="1"/>
          </p:cNvSpPr>
          <p:nvPr/>
        </p:nvSpPr>
        <p:spPr>
          <a:xfrm>
            <a:off x="5067300" y="26860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mosaic, scale, color,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copy-paste where useful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74A6C4D-8D20-42C6-B593-EE976D7434A4}"/>
              </a:ext>
            </a:extLst>
          </p:cNvPr>
          <p:cNvSpPr>
            <a:spLocks noGrp="1"/>
          </p:cNvSpPr>
          <p:nvPr/>
        </p:nvSpPr>
        <p:spPr>
          <a:xfrm>
            <a:off x="7848600" y="21907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1CE9D97-CF64-4079-9724-FBAE3AE54EB3}"/>
              </a:ext>
            </a:extLst>
          </p:cNvPr>
          <p:cNvSpPr>
            <a:spLocks noGrp="1"/>
          </p:cNvSpPr>
          <p:nvPr/>
        </p:nvSpPr>
        <p:spPr>
          <a:xfrm>
            <a:off x="8020050" y="2381250"/>
            <a:ext cx="400050" cy="4000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2117B0E-98D9-4874-9C02-4DB593124E9D}"/>
              </a:ext>
            </a:extLst>
          </p:cNvPr>
          <p:cNvSpPr>
            <a:spLocks noGrp="1"/>
          </p:cNvSpPr>
          <p:nvPr/>
        </p:nvSpPr>
        <p:spPr>
          <a:xfrm>
            <a:off x="8020050" y="24574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6B19BB6-3808-4624-B982-5E91DDBA00A7}"/>
              </a:ext>
            </a:extLst>
          </p:cNvPr>
          <p:cNvSpPr>
            <a:spLocks noGrp="1"/>
          </p:cNvSpPr>
          <p:nvPr/>
        </p:nvSpPr>
        <p:spPr>
          <a:xfrm>
            <a:off x="859155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Assign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9BF4AE29-6D28-4310-B09B-F137ACF92CB4}"/>
              </a:ext>
            </a:extLst>
          </p:cNvPr>
          <p:cNvSpPr>
            <a:spLocks noGrp="1"/>
          </p:cNvSpPr>
          <p:nvPr/>
        </p:nvSpPr>
        <p:spPr>
          <a:xfrm>
            <a:off x="8591550" y="26860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match objects to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prediction candidates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AF86656-7C66-4511-9BAC-664F2EC84CE0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039A674-24DC-4D90-AAEC-E4831B5ACD19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400050" cy="4000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9683EF5-0161-45DC-BB4E-D03205297B37}"/>
              </a:ext>
            </a:extLst>
          </p:cNvPr>
          <p:cNvSpPr>
            <a:spLocks noGrp="1"/>
          </p:cNvSpPr>
          <p:nvPr/>
        </p:nvSpPr>
        <p:spPr>
          <a:xfrm>
            <a:off x="971550" y="40576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DDFE94F-B801-41F6-8FA3-7F207BD7625D}"/>
              </a:ext>
            </a:extLst>
          </p:cNvPr>
          <p:cNvSpPr>
            <a:spLocks noGrp="1"/>
          </p:cNvSpPr>
          <p:nvPr/>
        </p:nvSpPr>
        <p:spPr>
          <a:xfrm>
            <a:off x="1543050" y="39814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E6B444CE-6A53-44E6-9C51-865A1CC44973}"/>
              </a:ext>
            </a:extLst>
          </p:cNvPr>
          <p:cNvSpPr>
            <a:spLocks noGrp="1"/>
          </p:cNvSpPr>
          <p:nvPr/>
        </p:nvSpPr>
        <p:spPr>
          <a:xfrm>
            <a:off x="1543050" y="42862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box, class,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objectness / e2e losses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DCBF5D78-3F97-4673-A6E9-E44508A216AF}"/>
              </a:ext>
            </a:extLst>
          </p:cNvPr>
          <p:cNvSpPr>
            <a:spLocks noGrp="1"/>
          </p:cNvSpPr>
          <p:nvPr/>
        </p:nvSpPr>
        <p:spPr>
          <a:xfrm>
            <a:off x="4324350" y="37909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FBD6605-43E1-4A2C-B176-B7157DE1641E}"/>
              </a:ext>
            </a:extLst>
          </p:cNvPr>
          <p:cNvSpPr>
            <a:spLocks noGrp="1"/>
          </p:cNvSpPr>
          <p:nvPr/>
        </p:nvSpPr>
        <p:spPr>
          <a:xfrm>
            <a:off x="4495800" y="3981450"/>
            <a:ext cx="400050" cy="4000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1762732-D04A-40C3-BFC2-1B1DF78C8C5E}"/>
              </a:ext>
            </a:extLst>
          </p:cNvPr>
          <p:cNvSpPr>
            <a:spLocks noGrp="1"/>
          </p:cNvSpPr>
          <p:nvPr/>
        </p:nvSpPr>
        <p:spPr>
          <a:xfrm>
            <a:off x="4495800" y="40576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1996ABC-EE9B-466E-ADB4-6CBBD7E2580C}"/>
              </a:ext>
            </a:extLst>
          </p:cNvPr>
          <p:cNvSpPr>
            <a:spLocks noGrp="1"/>
          </p:cNvSpPr>
          <p:nvPr/>
        </p:nvSpPr>
        <p:spPr>
          <a:xfrm>
            <a:off x="5067300" y="39814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5CD64873-FC76-4851-83CD-B8F52F6E3AA8}"/>
              </a:ext>
            </a:extLst>
          </p:cNvPr>
          <p:cNvSpPr>
            <a:spLocks noGrp="1"/>
          </p:cNvSpPr>
          <p:nvPr/>
        </p:nvSpPr>
        <p:spPr>
          <a:xfrm>
            <a:off x="5067300" y="42862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mAP, latency,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error slices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5614451-2D96-460D-9556-6B134A75B8FB}"/>
              </a:ext>
            </a:extLst>
          </p:cNvPr>
          <p:cNvSpPr>
            <a:spLocks noGrp="1"/>
          </p:cNvSpPr>
          <p:nvPr/>
        </p:nvSpPr>
        <p:spPr>
          <a:xfrm>
            <a:off x="7848600" y="3790950"/>
            <a:ext cx="2714625" cy="1047750"/>
          </a:xfrm>
          <a:prstGeom prst="rect">
            <a:avLst/>
          </a:prstGeom>
          <a:solidFill>
            <a:srgbClr val="FFFFFF"/>
          </a:solidFill>
          <a:ln w="12383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3C1EDCF6-89A4-4D26-9107-40463CBFF0B6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400050" cy="4000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8778B6F-196E-44C8-A21E-B0634F058F84}"/>
              </a:ext>
            </a:extLst>
          </p:cNvPr>
          <p:cNvSpPr>
            <a:spLocks noGrp="1"/>
          </p:cNvSpPr>
          <p:nvPr/>
        </p:nvSpPr>
        <p:spPr>
          <a:xfrm>
            <a:off x="8020050" y="40576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49A16DEF-298A-4414-A25E-81099ED63BB1}"/>
              </a:ext>
            </a:extLst>
          </p:cNvPr>
          <p:cNvSpPr>
            <a:spLocks noGrp="1"/>
          </p:cNvSpPr>
          <p:nvPr/>
        </p:nvSpPr>
        <p:spPr>
          <a:xfrm>
            <a:off x="8591550" y="39814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4F639CCC-D6FE-4BBE-BF2A-02E5B414B5AF}"/>
              </a:ext>
            </a:extLst>
          </p:cNvPr>
          <p:cNvSpPr>
            <a:spLocks noGrp="1"/>
          </p:cNvSpPr>
          <p:nvPr/>
        </p:nvSpPr>
        <p:spPr>
          <a:xfrm>
            <a:off x="8591550" y="4286250"/>
            <a:ext cx="1695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ONNX, TensorRT,</a:t>
            </a:r>
          </a:p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CoreML, TFLite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228A58EB-1EFF-4B27-9742-446FC2B6C9DA}"/>
              </a:ext>
            </a:extLst>
          </p:cNvPr>
          <p:cNvSpPr>
            <a:spLocks noGrp="1"/>
          </p:cNvSpPr>
          <p:nvPr/>
        </p:nvSpPr>
        <p:spPr>
          <a:xfrm>
            <a:off x="1390650" y="5657850"/>
            <a:ext cx="942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For a coursework talk, this is the useful framing: YOLO is not only an architecture; it is a training-and-deployment recipe where the dataset and export target shape model choice.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F260B2BA-EABE-47FB-B3E9-3FEA87CB7D3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Training concepts summarized from YOLOv4, YOLOv7, YOLOv10 and Ultralytics training docs.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B5DDF3C5-B681-45F8-A257-A855E0CD399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074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65AB88E5-6820-482B-96E5-D78F6957E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ECB6B795-69C1-412E-B5AA-3069F1EBD956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B17A7B58-E75E-42AB-92E8-778DBA599BE6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SPEED VS ACCURACY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E9A7C82-90C4-40E9-A96B-CC0271470F4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 is a family of operating points, so “best” depends on the deployment constraint.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014A102-4EC1-4D94-8C09-852A8274FCCE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YOLO26n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F3ED92E-8480-4820-8AAB-D62E3977EE91}"/>
              </a:ext>
            </a:extLst>
          </p:cNvPr>
          <p:cNvSpPr>
            <a:spLocks noGrp="1"/>
          </p:cNvSpPr>
          <p:nvPr/>
        </p:nvSpPr>
        <p:spPr>
          <a:xfrm>
            <a:off x="2552700" y="2228850"/>
            <a:ext cx="4953000" cy="171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12DA976-26EF-4B27-BA9F-BACBD919AB72}"/>
              </a:ext>
            </a:extLst>
          </p:cNvPr>
          <p:cNvSpPr>
            <a:spLocks noGrp="1"/>
          </p:cNvSpPr>
          <p:nvPr/>
        </p:nvSpPr>
        <p:spPr>
          <a:xfrm>
            <a:off x="2552700" y="2228850"/>
            <a:ext cx="212271" cy="1714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CA82BC-4A1D-4BD6-9D5E-B6D75B5C827C}"/>
              </a:ext>
            </a:extLst>
          </p:cNvPr>
          <p:cNvSpPr>
            <a:spLocks noGrp="1"/>
          </p:cNvSpPr>
          <p:nvPr/>
        </p:nvSpPr>
        <p:spPr>
          <a:xfrm>
            <a:off x="7600950" y="220980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2.4M params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8ACEBCC-9DAA-4C60-8927-3513F3EE3265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BD6473A-2779-4E60-8C68-59725EC73AA1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953000" cy="171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2467DCE-96FE-40F2-926C-3A5E92E521C7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840241" cy="1714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9DE608B-7BD8-4FA5-82DC-FEF272921433}"/>
              </a:ext>
            </a:extLst>
          </p:cNvPr>
          <p:cNvSpPr>
            <a:spLocks noGrp="1"/>
          </p:cNvSpPr>
          <p:nvPr/>
        </p:nvSpPr>
        <p:spPr>
          <a:xfrm>
            <a:off x="7600950" y="270510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9.5M params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EFA8D93-7715-43E8-B3D1-8C69481BB3DA}"/>
              </a:ext>
            </a:extLst>
          </p:cNvPr>
          <p:cNvSpPr>
            <a:spLocks noGrp="1"/>
          </p:cNvSpPr>
          <p:nvPr/>
        </p:nvSpPr>
        <p:spPr>
          <a:xfrm>
            <a:off x="1028700" y="3200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YOLO26m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92C1E90-4FA7-4528-9AB2-41D0CA6E638A}"/>
              </a:ext>
            </a:extLst>
          </p:cNvPr>
          <p:cNvSpPr>
            <a:spLocks noGrp="1"/>
          </p:cNvSpPr>
          <p:nvPr/>
        </p:nvSpPr>
        <p:spPr>
          <a:xfrm>
            <a:off x="2552700" y="3219450"/>
            <a:ext cx="4953000" cy="171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1C602C6-77EB-410B-9358-0779574A7D0E}"/>
              </a:ext>
            </a:extLst>
          </p:cNvPr>
          <p:cNvSpPr>
            <a:spLocks noGrp="1"/>
          </p:cNvSpPr>
          <p:nvPr/>
        </p:nvSpPr>
        <p:spPr>
          <a:xfrm>
            <a:off x="2552700" y="3219450"/>
            <a:ext cx="1804307" cy="1714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4E996C0-D7EB-45BF-B65A-DBC058CEB724}"/>
              </a:ext>
            </a:extLst>
          </p:cNvPr>
          <p:cNvSpPr>
            <a:spLocks noGrp="1"/>
          </p:cNvSpPr>
          <p:nvPr/>
        </p:nvSpPr>
        <p:spPr>
          <a:xfrm>
            <a:off x="7600950" y="320040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20.4M params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A195004E-756D-40E0-91B2-04D790ACA3A1}"/>
              </a:ext>
            </a:extLst>
          </p:cNvPr>
          <p:cNvSpPr>
            <a:spLocks noGrp="1"/>
          </p:cNvSpPr>
          <p:nvPr/>
        </p:nvSpPr>
        <p:spPr>
          <a:xfrm>
            <a:off x="1028700" y="36957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YOLO26l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9D2CE35-6BBB-4BA5-93BA-3522258798D8}"/>
              </a:ext>
            </a:extLst>
          </p:cNvPr>
          <p:cNvSpPr>
            <a:spLocks noGrp="1"/>
          </p:cNvSpPr>
          <p:nvPr/>
        </p:nvSpPr>
        <p:spPr>
          <a:xfrm>
            <a:off x="2552700" y="3714750"/>
            <a:ext cx="4953000" cy="171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E34ED26-4192-4030-B68F-003504520D0E}"/>
              </a:ext>
            </a:extLst>
          </p:cNvPr>
          <p:cNvSpPr>
            <a:spLocks noGrp="1"/>
          </p:cNvSpPr>
          <p:nvPr/>
        </p:nvSpPr>
        <p:spPr>
          <a:xfrm>
            <a:off x="2552700" y="3714750"/>
            <a:ext cx="2193471" cy="1714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6312629-524B-4D52-8311-17AF425FBFCD}"/>
              </a:ext>
            </a:extLst>
          </p:cNvPr>
          <p:cNvSpPr>
            <a:spLocks noGrp="1"/>
          </p:cNvSpPr>
          <p:nvPr/>
        </p:nvSpPr>
        <p:spPr>
          <a:xfrm>
            <a:off x="7600950" y="369570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24.8M params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86EC8D3-35B2-4B59-A25B-23F39FEF0D06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YOLO26x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319B949-45E0-4BA4-A1F1-14F4200AF875}"/>
              </a:ext>
            </a:extLst>
          </p:cNvPr>
          <p:cNvSpPr>
            <a:spLocks noGrp="1"/>
          </p:cNvSpPr>
          <p:nvPr/>
        </p:nvSpPr>
        <p:spPr>
          <a:xfrm>
            <a:off x="2552700" y="4210050"/>
            <a:ext cx="4953000" cy="171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F3336B94-BB42-4014-8DEB-4CCC20DF62EE}"/>
              </a:ext>
            </a:extLst>
          </p:cNvPr>
          <p:cNvSpPr>
            <a:spLocks noGrp="1"/>
          </p:cNvSpPr>
          <p:nvPr/>
        </p:nvSpPr>
        <p:spPr>
          <a:xfrm>
            <a:off x="2552700" y="4210050"/>
            <a:ext cx="4926466" cy="17145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7E29147D-3616-4526-941B-3A5BB109C0C9}"/>
              </a:ext>
            </a:extLst>
          </p:cNvPr>
          <p:cNvSpPr>
            <a:spLocks noGrp="1"/>
          </p:cNvSpPr>
          <p:nvPr/>
        </p:nvSpPr>
        <p:spPr>
          <a:xfrm>
            <a:off x="7600950" y="419100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55.7M params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89F5E99-3EF2-454A-9AB7-E9EF9EDEFAE3}"/>
              </a:ext>
            </a:extLst>
          </p:cNvPr>
          <p:cNvSpPr>
            <a:spLocks noGrp="1"/>
          </p:cNvSpPr>
          <p:nvPr/>
        </p:nvSpPr>
        <p:spPr>
          <a:xfrm>
            <a:off x="1028700" y="1885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size ladder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09E9205-3016-439A-B692-BD993AE0351F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25717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CA780011-EF02-4BD7-95BE-8AB847DE1D44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Latency budget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0DB2D56-C4F7-4971-9F85-BD104E605415}"/>
              </a:ext>
            </a:extLst>
          </p:cNvPr>
          <p:cNvSpPr>
            <a:spLocks noGrp="1"/>
          </p:cNvSpPr>
          <p:nvPr/>
        </p:nvSpPr>
        <p:spPr>
          <a:xfrm>
            <a:off x="8305800" y="3124200"/>
            <a:ext cx="10096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152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6F29A87-2817-4902-9C8D-33D1D99A4D4C}"/>
              </a:ext>
            </a:extLst>
          </p:cNvPr>
          <p:cNvSpPr>
            <a:spLocks noGrp="1"/>
          </p:cNvSpPr>
          <p:nvPr/>
        </p:nvSpPr>
        <p:spPr>
          <a:xfrm>
            <a:off x="8305800" y="3124200"/>
            <a:ext cx="10096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46BBD354-D000-4A87-AB89-47F3C2A6D953}"/>
              </a:ext>
            </a:extLst>
          </p:cNvPr>
          <p:cNvSpPr>
            <a:spLocks noGrp="1"/>
          </p:cNvSpPr>
          <p:nvPr/>
        </p:nvSpPr>
        <p:spPr>
          <a:xfrm>
            <a:off x="8477250" y="3390900"/>
            <a:ext cx="685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edge</a:t>
            </a:r>
          </a:p>
          <a:p>
            <a:pPr algn="ctr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first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B7691DE6-6C18-4C7C-B8C6-223A4B3C13C1}"/>
              </a:ext>
            </a:extLst>
          </p:cNvPr>
          <p:cNvSpPr>
            <a:spLocks noGrp="1"/>
          </p:cNvSpPr>
          <p:nvPr/>
        </p:nvSpPr>
        <p:spPr>
          <a:xfrm>
            <a:off x="7124700" y="5048250"/>
            <a:ext cx="361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Nano and small models are not “worse YOLO”; they are the correct answer when the system is CPU-only, battery-powered or latency-critical.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FB8C322-CA02-46A5-B611-2BFCC8B5D37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Parameter values shown from Ultralytics YOLO26 detection table; choose exact model after hardware benchmarking.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926690F-329A-4B65-A916-52AA4BE2040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691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tangolo 32">
            <a:extLst>
              <a:ext uri="{FF2B5EF4-FFF2-40B4-BE49-F238E27FC236}">
                <a16:creationId xmlns:a16="http://schemas.microsoft.com/office/drawing/2014/main" id="{5E16CC19-A7E6-4108-8AC5-0898974416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92108B22-40CC-450B-8003-BEF197C1A0E6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DFA8A328-F380-44C1-A099-249D991356EC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DD7D70C-D31C-4640-BAC1-1451BC3EC40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YOLO wins when the product needs usable detections now, not perfect detections later.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FAFC89F-C042-4D72-A624-7173D9F4565F}"/>
              </a:ext>
            </a:extLst>
          </p:cNvPr>
          <p:cNvSpPr>
            <a:spLocks noGrp="1"/>
          </p:cNvSpPr>
          <p:nvPr/>
        </p:nvSpPr>
        <p:spPr>
          <a:xfrm>
            <a:off x="1162050" y="2295525"/>
            <a:ext cx="9048750" cy="2857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30FA069-06E2-4487-A04D-871486F54F2D}"/>
              </a:ext>
            </a:extLst>
          </p:cNvPr>
          <p:cNvSpPr>
            <a:spLocks noGrp="1"/>
          </p:cNvSpPr>
          <p:nvPr/>
        </p:nvSpPr>
        <p:spPr>
          <a:xfrm>
            <a:off x="1219200" y="234315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Strength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4A20AA8-BCE3-4648-A528-F9C4FA582BA5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24709CF-C902-4ED5-9A6B-63BABFEB6E25}"/>
              </a:ext>
            </a:extLst>
          </p:cNvPr>
          <p:cNvSpPr>
            <a:spLocks noGrp="1"/>
          </p:cNvSpPr>
          <p:nvPr/>
        </p:nvSpPr>
        <p:spPr>
          <a:xfrm>
            <a:off x="7315200" y="234315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scenario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E8AD2EB-2EC5-4106-A6A2-A6A79B1BB23E}"/>
              </a:ext>
            </a:extLst>
          </p:cNvPr>
          <p:cNvSpPr>
            <a:spLocks noGrp="1"/>
          </p:cNvSpPr>
          <p:nvPr/>
        </p:nvSpPr>
        <p:spPr>
          <a:xfrm>
            <a:off x="1162050" y="2600325"/>
            <a:ext cx="9048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8DB1147-4067-408A-B2DC-0AF1972F2F79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Real-time inference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438109F-B9D1-44AA-8498-3E95C95A6FFC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Single-stage design keeps latency low.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57BF705-CF0B-4EA5-AC69-3B03AD75541A}"/>
              </a:ext>
            </a:extLst>
          </p:cNvPr>
          <p:cNvSpPr>
            <a:spLocks noGrp="1"/>
          </p:cNvSpPr>
          <p:nvPr/>
        </p:nvSpPr>
        <p:spPr>
          <a:xfrm>
            <a:off x="7315200" y="266700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robotics, video analytics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5045749-1E02-4791-8ECE-A062A558BE7A}"/>
              </a:ext>
            </a:extLst>
          </p:cNvPr>
          <p:cNvSpPr>
            <a:spLocks noGrp="1"/>
          </p:cNvSpPr>
          <p:nvPr/>
        </p:nvSpPr>
        <p:spPr>
          <a:xfrm>
            <a:off x="1162050" y="2924175"/>
            <a:ext cx="9048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3E61D04-C611-4F9D-A7A7-E67CD8303E2A}"/>
              </a:ext>
            </a:extLst>
          </p:cNvPr>
          <p:cNvSpPr>
            <a:spLocks noGrp="1"/>
          </p:cNvSpPr>
          <p:nvPr/>
        </p:nvSpPr>
        <p:spPr>
          <a:xfrm>
            <a:off x="1219200" y="299085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Simple deployment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F34923B-F2C5-4093-B4FB-B2519E8B9575}"/>
              </a:ext>
            </a:extLst>
          </p:cNvPr>
          <p:cNvSpPr>
            <a:spLocks noGrp="1"/>
          </p:cNvSpPr>
          <p:nvPr/>
        </p:nvSpPr>
        <p:spPr>
          <a:xfrm>
            <a:off x="3219450" y="29908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YOLO26 removes NMS from the default path.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71A40E3-B914-4BCA-841C-3F9F9DD00662}"/>
              </a:ext>
            </a:extLst>
          </p:cNvPr>
          <p:cNvSpPr>
            <a:spLocks noGrp="1"/>
          </p:cNvSpPr>
          <p:nvPr/>
        </p:nvSpPr>
        <p:spPr>
          <a:xfrm>
            <a:off x="7315200" y="299085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edge / mobile / embedded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E71894F-D983-4A2D-AC38-531D66F5E190}"/>
              </a:ext>
            </a:extLst>
          </p:cNvPr>
          <p:cNvSpPr>
            <a:spLocks noGrp="1"/>
          </p:cNvSpPr>
          <p:nvPr/>
        </p:nvSpPr>
        <p:spPr>
          <a:xfrm>
            <a:off x="1162050" y="3248025"/>
            <a:ext cx="9048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0EC7E94-E44A-474D-BAEE-B377AC81202C}"/>
              </a:ext>
            </a:extLst>
          </p:cNvPr>
          <p:cNvSpPr>
            <a:spLocks noGrp="1"/>
          </p:cNvSpPr>
          <p:nvPr/>
        </p:nvSpPr>
        <p:spPr>
          <a:xfrm>
            <a:off x="1219200" y="331470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Mature tooling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F359367-2E42-499F-BE3C-A268BB9E340D}"/>
              </a:ext>
            </a:extLst>
          </p:cNvPr>
          <p:cNvSpPr>
            <a:spLocks noGrp="1"/>
          </p:cNvSpPr>
          <p:nvPr/>
        </p:nvSpPr>
        <p:spPr>
          <a:xfrm>
            <a:off x="3219450" y="33147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Train, validate, export and run from one ecosystem.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C6E44B7-E328-4C64-B3DA-43B955770DDD}"/>
              </a:ext>
            </a:extLst>
          </p:cNvPr>
          <p:cNvSpPr>
            <a:spLocks noGrp="1"/>
          </p:cNvSpPr>
          <p:nvPr/>
        </p:nvSpPr>
        <p:spPr>
          <a:xfrm>
            <a:off x="7315200" y="331470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rapid prototyping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0D70FF2A-BBE8-4316-91F1-A15D4B087396}"/>
              </a:ext>
            </a:extLst>
          </p:cNvPr>
          <p:cNvSpPr>
            <a:spLocks noGrp="1"/>
          </p:cNvSpPr>
          <p:nvPr/>
        </p:nvSpPr>
        <p:spPr>
          <a:xfrm>
            <a:off x="1162050" y="3571875"/>
            <a:ext cx="9048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9E6FDFA1-F0CC-4E6F-BDE3-EC585169341D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Multi-task support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226D15D-A0BF-4609-B0F9-F6E69FFC1AAC}"/>
              </a:ext>
            </a:extLst>
          </p:cNvPr>
          <p:cNvSpPr>
            <a:spLocks noGrp="1"/>
          </p:cNvSpPr>
          <p:nvPr/>
        </p:nvSpPr>
        <p:spPr>
          <a:xfrm>
            <a:off x="3219450" y="36385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Detect, segment, classify, pose and OBB in one family.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E1EDEC2-CC13-46C6-AE30-669E6ABDCBC2}"/>
              </a:ext>
            </a:extLst>
          </p:cNvPr>
          <p:cNvSpPr>
            <a:spLocks noGrp="1"/>
          </p:cNvSpPr>
          <p:nvPr/>
        </p:nvSpPr>
        <p:spPr>
          <a:xfrm>
            <a:off x="7315200" y="363855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industrial inspection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191B721D-D382-4A91-B9CC-5C9129D6028B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9048750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3AFF5FF9-4DFE-4DFB-BA10-950F5AC36515}"/>
              </a:ext>
            </a:extLst>
          </p:cNvPr>
          <p:cNvSpPr>
            <a:spLocks noGrp="1"/>
          </p:cNvSpPr>
          <p:nvPr/>
        </p:nvSpPr>
        <p:spPr>
          <a:xfrm>
            <a:off x="1219200" y="3962400"/>
            <a:ext cx="18859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Good transfer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B0FEF918-C85D-4A55-8528-3C0919E742A4}"/>
              </a:ext>
            </a:extLst>
          </p:cNvPr>
          <p:cNvSpPr>
            <a:spLocks noGrp="1"/>
          </p:cNvSpPr>
          <p:nvPr/>
        </p:nvSpPr>
        <p:spPr>
          <a:xfrm>
            <a:off x="3219450" y="39624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Pretrained weights adapt well with modest fine-tuning.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67F4047-6364-4F0F-A655-BFC65FF22760}"/>
              </a:ext>
            </a:extLst>
          </p:cNvPr>
          <p:cNvSpPr>
            <a:spLocks noGrp="1"/>
          </p:cNvSpPr>
          <p:nvPr/>
        </p:nvSpPr>
        <p:spPr>
          <a:xfrm>
            <a:off x="7315200" y="3962400"/>
            <a:ext cx="2838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custom datasets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4A571A5-715B-411A-80DB-2A530DDF484D}"/>
              </a:ext>
            </a:extLst>
          </p:cNvPr>
          <p:cNvSpPr>
            <a:spLocks noGrp="1"/>
          </p:cNvSpPr>
          <p:nvPr/>
        </p:nvSpPr>
        <p:spPr>
          <a:xfrm>
            <a:off x="1162050" y="53530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Best classroom line: YOLO is an engineering compromise that became a research lineage. It is popular because the compromise is explicit and controllable.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8379B41-62F9-4A40-8988-8EF2D0B3C74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Sources: Ultralytics task/export docs; YOLOv1, YOLOv4 and YOLOv10 papers.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8F39C8F5-7E09-4670-8FA7-8C047203220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058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tangolo 31">
            <a:extLst>
              <a:ext uri="{FF2B5EF4-FFF2-40B4-BE49-F238E27FC236}">
                <a16:creationId xmlns:a16="http://schemas.microsoft.com/office/drawing/2014/main" id="{7245D8F7-1078-4314-BF8B-9863CAC852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6FB62451-9133-4733-B003-053BBC6234D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364D9BED-5BF9-458F-AB65-D3D78C205058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C73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16F6ED1-F3BF-4BBF-AEAA-E5448C68B46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same design choices that make YOLO fast can still fail under crowded, shifted or safety-critical conditions.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CA56A2-B242-460B-B215-95C1439F38C3}"/>
              </a:ext>
            </a:extLst>
          </p:cNvPr>
          <p:cNvSpPr>
            <a:spLocks noGrp="1"/>
          </p:cNvSpPr>
          <p:nvPr/>
        </p:nvSpPr>
        <p:spPr>
          <a:xfrm>
            <a:off x="1359877" y="2314575"/>
            <a:ext cx="9096375" cy="2857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375D14B-56E9-4DE3-B4E2-CE72CA6A6BD1}"/>
              </a:ext>
            </a:extLst>
          </p:cNvPr>
          <p:cNvSpPr>
            <a:spLocks noGrp="1"/>
          </p:cNvSpPr>
          <p:nvPr/>
        </p:nvSpPr>
        <p:spPr>
          <a:xfrm>
            <a:off x="1417027" y="236220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A6A47E5-9065-4464-A1E2-AE7799D37295}"/>
              </a:ext>
            </a:extLst>
          </p:cNvPr>
          <p:cNvSpPr>
            <a:spLocks noGrp="1"/>
          </p:cNvSpPr>
          <p:nvPr/>
        </p:nvSpPr>
        <p:spPr>
          <a:xfrm>
            <a:off x="3179152" y="23622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5CCCE9-E143-495C-A829-B818139EA0DB}"/>
              </a:ext>
            </a:extLst>
          </p:cNvPr>
          <p:cNvSpPr>
            <a:spLocks noGrp="1"/>
          </p:cNvSpPr>
          <p:nvPr/>
        </p:nvSpPr>
        <p:spPr>
          <a:xfrm>
            <a:off x="7274902" y="236220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742CC29-5FD1-4B1B-9C70-DFDEB96C3300}"/>
              </a:ext>
            </a:extLst>
          </p:cNvPr>
          <p:cNvSpPr>
            <a:spLocks noGrp="1"/>
          </p:cNvSpPr>
          <p:nvPr/>
        </p:nvSpPr>
        <p:spPr>
          <a:xfrm>
            <a:off x="1359877" y="2619375"/>
            <a:ext cx="9096375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270F854-1ED4-47CF-898B-1C4692E7A57D}"/>
              </a:ext>
            </a:extLst>
          </p:cNvPr>
          <p:cNvSpPr>
            <a:spLocks noGrp="1"/>
          </p:cNvSpPr>
          <p:nvPr/>
        </p:nvSpPr>
        <p:spPr>
          <a:xfrm>
            <a:off x="1417027" y="268605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Crowded scenes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A0D6B8C-C432-4732-AD24-FF989381A2F2}"/>
              </a:ext>
            </a:extLst>
          </p:cNvPr>
          <p:cNvSpPr>
            <a:spLocks noGrp="1"/>
          </p:cNvSpPr>
          <p:nvPr/>
        </p:nvSpPr>
        <p:spPr>
          <a:xfrm>
            <a:off x="3179152" y="26860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Duplicate or missed boxes around overlapping objects.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85655C8-EDF6-4506-93E3-7322A8E5A42D}"/>
              </a:ext>
            </a:extLst>
          </p:cNvPr>
          <p:cNvSpPr>
            <a:spLocks noGrp="1"/>
          </p:cNvSpPr>
          <p:nvPr/>
        </p:nvSpPr>
        <p:spPr>
          <a:xfrm>
            <a:off x="7274902" y="268605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higher input size, better labels, e2e/NMS tuning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272D28E-B7B4-4D03-A114-B7BAB4E10E4B}"/>
              </a:ext>
            </a:extLst>
          </p:cNvPr>
          <p:cNvSpPr>
            <a:spLocks noGrp="1"/>
          </p:cNvSpPr>
          <p:nvPr/>
        </p:nvSpPr>
        <p:spPr>
          <a:xfrm>
            <a:off x="1359877" y="2943225"/>
            <a:ext cx="9096375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7FD2B9D-E3BA-404A-BF1A-16259258C3C6}"/>
              </a:ext>
            </a:extLst>
          </p:cNvPr>
          <p:cNvSpPr>
            <a:spLocks noGrp="1"/>
          </p:cNvSpPr>
          <p:nvPr/>
        </p:nvSpPr>
        <p:spPr>
          <a:xfrm>
            <a:off x="1417027" y="300990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Small objects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01D0C28-84E8-4F04-B263-62B605DF8FCB}"/>
              </a:ext>
            </a:extLst>
          </p:cNvPr>
          <p:cNvSpPr>
            <a:spLocks noGrp="1"/>
          </p:cNvSpPr>
          <p:nvPr/>
        </p:nvSpPr>
        <p:spPr>
          <a:xfrm>
            <a:off x="3179152" y="30099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Weak recall when objects occupy few pixels.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0D59B97-CD61-4C1A-B63D-A993F27A78E0}"/>
              </a:ext>
            </a:extLst>
          </p:cNvPr>
          <p:cNvSpPr>
            <a:spLocks noGrp="1"/>
          </p:cNvSpPr>
          <p:nvPr/>
        </p:nvSpPr>
        <p:spPr>
          <a:xfrm>
            <a:off x="7274902" y="300990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P2 head, tiling, task-specific training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E5BCC3E-B4C1-4EF8-AE6A-A6BFB69A7363}"/>
              </a:ext>
            </a:extLst>
          </p:cNvPr>
          <p:cNvSpPr>
            <a:spLocks noGrp="1"/>
          </p:cNvSpPr>
          <p:nvPr/>
        </p:nvSpPr>
        <p:spPr>
          <a:xfrm>
            <a:off x="1359877" y="3267075"/>
            <a:ext cx="9096375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B9DCBEE-2554-4257-9425-C0185508D078}"/>
              </a:ext>
            </a:extLst>
          </p:cNvPr>
          <p:cNvSpPr>
            <a:spLocks noGrp="1"/>
          </p:cNvSpPr>
          <p:nvPr/>
        </p:nvSpPr>
        <p:spPr>
          <a:xfrm>
            <a:off x="1417027" y="333375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4490B47-64E9-42AE-BC0B-EA93B097B35C}"/>
              </a:ext>
            </a:extLst>
          </p:cNvPr>
          <p:cNvSpPr>
            <a:spLocks noGrp="1"/>
          </p:cNvSpPr>
          <p:nvPr/>
        </p:nvSpPr>
        <p:spPr>
          <a:xfrm>
            <a:off x="3179152" y="33337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Camera, lighting or geography breaks learned priors.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F874F0D-A9E8-4081-B80B-94595A3F4568}"/>
              </a:ext>
            </a:extLst>
          </p:cNvPr>
          <p:cNvSpPr>
            <a:spLocks noGrp="1"/>
          </p:cNvSpPr>
          <p:nvPr/>
        </p:nvSpPr>
        <p:spPr>
          <a:xfrm>
            <a:off x="7274902" y="333375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representative data + slice validation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D6AD262-D768-4B79-9285-00055F9AA396}"/>
              </a:ext>
            </a:extLst>
          </p:cNvPr>
          <p:cNvSpPr>
            <a:spLocks noGrp="1"/>
          </p:cNvSpPr>
          <p:nvPr/>
        </p:nvSpPr>
        <p:spPr>
          <a:xfrm>
            <a:off x="1359877" y="3590925"/>
            <a:ext cx="9096375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5F970A9-BD98-449B-83C5-103A54B019CF}"/>
              </a:ext>
            </a:extLst>
          </p:cNvPr>
          <p:cNvSpPr>
            <a:spLocks noGrp="1"/>
          </p:cNvSpPr>
          <p:nvPr/>
        </p:nvSpPr>
        <p:spPr>
          <a:xfrm>
            <a:off x="1417027" y="365760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A7B0CDB0-6A01-4963-A39E-DEDA8D4A975C}"/>
              </a:ext>
            </a:extLst>
          </p:cNvPr>
          <p:cNvSpPr>
            <a:spLocks noGrp="1"/>
          </p:cNvSpPr>
          <p:nvPr/>
        </p:nvSpPr>
        <p:spPr>
          <a:xfrm>
            <a:off x="3179152" y="365760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High confidence can be wrong.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81A85C6-AEF9-4D08-89E2-C257D5BA0188}"/>
              </a:ext>
            </a:extLst>
          </p:cNvPr>
          <p:cNvSpPr>
            <a:spLocks noGrp="1"/>
          </p:cNvSpPr>
          <p:nvPr/>
        </p:nvSpPr>
        <p:spPr>
          <a:xfrm>
            <a:off x="7274902" y="365760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threshold curves, confidence calibration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C29995D-A03F-4CB3-AE4C-18BC5EEF30CC}"/>
              </a:ext>
            </a:extLst>
          </p:cNvPr>
          <p:cNvSpPr>
            <a:spLocks noGrp="1"/>
          </p:cNvSpPr>
          <p:nvPr/>
        </p:nvSpPr>
        <p:spPr>
          <a:xfrm>
            <a:off x="1359877" y="3914775"/>
            <a:ext cx="9096375" cy="13335"/>
          </a:xfrm>
          <a:prstGeom prst="rect">
            <a:avLst/>
          </a:prstGeom>
          <a:solidFill>
            <a:srgbClr val="D7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7A61816-CBFB-4978-A469-F428B36677F1}"/>
              </a:ext>
            </a:extLst>
          </p:cNvPr>
          <p:cNvSpPr>
            <a:spLocks noGrp="1"/>
          </p:cNvSpPr>
          <p:nvPr/>
        </p:nvSpPr>
        <p:spPr>
          <a:xfrm>
            <a:off x="1417027" y="3981450"/>
            <a:ext cx="16478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Licensing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50DC4716-F223-4717-B84C-BA72E78153BA}"/>
              </a:ext>
            </a:extLst>
          </p:cNvPr>
          <p:cNvSpPr>
            <a:spLocks noGrp="1"/>
          </p:cNvSpPr>
          <p:nvPr/>
        </p:nvSpPr>
        <p:spPr>
          <a:xfrm>
            <a:off x="3179152" y="3981450"/>
            <a:ext cx="3981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Ultralytics models use AGPL-3.0 or enterprise terms.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1F2C6349-C1F0-4AF6-8BB4-309D5883993A}"/>
              </a:ext>
            </a:extLst>
          </p:cNvPr>
          <p:cNvSpPr>
            <a:spLocks noGrp="1"/>
          </p:cNvSpPr>
          <p:nvPr/>
        </p:nvSpPr>
        <p:spPr>
          <a:xfrm>
            <a:off x="7274902" y="3981450"/>
            <a:ext cx="31242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 project obligations early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C6130C3-2ABD-466F-856C-39858765A06E}"/>
              </a:ext>
            </a:extLst>
          </p:cNvPr>
          <p:cNvSpPr>
            <a:spLocks noGrp="1"/>
          </p:cNvSpPr>
          <p:nvPr/>
        </p:nvSpPr>
        <p:spPr>
          <a:xfrm>
            <a:off x="1314450" y="54673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C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C73"/>
                </a:solidFill>
                <a:latin typeface="Aptos"/>
                <a:ea typeface="Aptos"/>
                <a:cs typeface="Aptos"/>
              </a:rPr>
              <a:t>For neural-network evaluation, do not report only global mAP. Show errors by object size, class frequency, scene density and latency percentile.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55F577AB-1F1D-46F7-A57C-357F06ADF17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Limit framing from original YOLO localization discussion, Ultralytics docs and standard object-detection evaluation practice.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68FACDDD-D68A-4A7C-A133-F7426A80D1A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830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8E148A61-35B0-431C-A7DE-DC720829C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9A8C240E-191B-48BB-9636-24E35566655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76200" cy="762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4A93E82F-5564-4DFA-871D-604EE4AEDDC0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3EEE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EEE2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9D8317C-99EC-4106-9E70-766AE96541D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YOLO26 is the modern endpoint of YOLO’s original bet: one pass, lower latency, deployable vision.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6C12891-4D57-40FB-9FDD-3E207938CAAA}"/>
              </a:ext>
            </a:extLst>
          </p:cNvPr>
          <p:cNvSpPr>
            <a:spLocks noGrp="1"/>
          </p:cNvSpPr>
          <p:nvPr/>
        </p:nvSpPr>
        <p:spPr>
          <a:xfrm>
            <a:off x="1104900" y="2190750"/>
            <a:ext cx="419100" cy="419100"/>
          </a:xfrm>
          <a:prstGeom prst="rect">
            <a:avLst/>
          </a:prstGeom>
          <a:solidFill>
            <a:srgbClr val="E639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69E158C-2AB6-4FAF-91E2-6E3741026BF5}"/>
              </a:ext>
            </a:extLst>
          </p:cNvPr>
          <p:cNvSpPr>
            <a:spLocks noGrp="1"/>
          </p:cNvSpPr>
          <p:nvPr/>
        </p:nvSpPr>
        <p:spPr>
          <a:xfrm>
            <a:off x="1104900" y="227647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1EDA33B-8DF2-4144-87C2-471DDAD4CCD1}"/>
              </a:ext>
            </a:extLst>
          </p:cNvPr>
          <p:cNvSpPr>
            <a:spLocks noGrp="1"/>
          </p:cNvSpPr>
          <p:nvPr/>
        </p:nvSpPr>
        <p:spPr>
          <a:xfrm>
            <a:off x="1752600" y="224790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YOLOv1 made detection a single regression problem.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4632D87-D496-4854-8A97-B4ADFE3279CE}"/>
              </a:ext>
            </a:extLst>
          </p:cNvPr>
          <p:cNvSpPr>
            <a:spLocks noGrp="1"/>
          </p:cNvSpPr>
          <p:nvPr/>
        </p:nvSpPr>
        <p:spPr>
          <a:xfrm>
            <a:off x="1104900" y="2933700"/>
            <a:ext cx="419100" cy="419100"/>
          </a:xfrm>
          <a:prstGeom prst="rect">
            <a:avLst/>
          </a:prstGeom>
          <a:solidFill>
            <a:srgbClr val="247B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C0D6ED3-AEB0-4701-9FB5-CC49B0995ED2}"/>
              </a:ext>
            </a:extLst>
          </p:cNvPr>
          <p:cNvSpPr>
            <a:spLocks noGrp="1"/>
          </p:cNvSpPr>
          <p:nvPr/>
        </p:nvSpPr>
        <p:spPr>
          <a:xfrm>
            <a:off x="1104900" y="301942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8C27D86-3EA9-4CD6-9FD9-7CE7C106D227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Later versions repaired accuracy with better features, assignment, losses and tooling.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FB51CA3-9EFE-4093-834C-BB5C4E2705F7}"/>
              </a:ext>
            </a:extLst>
          </p:cNvPr>
          <p:cNvSpPr>
            <a:spLocks noGrp="1"/>
          </p:cNvSpPr>
          <p:nvPr/>
        </p:nvSpPr>
        <p:spPr>
          <a:xfrm>
            <a:off x="1104900" y="3676650"/>
            <a:ext cx="419100" cy="4191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FF296A6-1940-496E-91E5-49328DAA5D80}"/>
              </a:ext>
            </a:extLst>
          </p:cNvPr>
          <p:cNvSpPr>
            <a:spLocks noGrp="1"/>
          </p:cNvSpPr>
          <p:nvPr/>
        </p:nvSpPr>
        <p:spPr>
          <a:xfrm>
            <a:off x="1104900" y="376237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554BCEB-539D-45D7-957A-7D04AD4E75E5}"/>
              </a:ext>
            </a:extLst>
          </p:cNvPr>
          <p:cNvSpPr>
            <a:spLocks noGrp="1"/>
          </p:cNvSpPr>
          <p:nvPr/>
        </p:nvSpPr>
        <p:spPr>
          <a:xfrm>
            <a:off x="1752600" y="373380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YOLO26 moves the center of gravity toward edge deployment and NMS-free inference.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81D6974-B1B7-45CC-BD8A-F54572325032}"/>
              </a:ext>
            </a:extLst>
          </p:cNvPr>
          <p:cNvSpPr>
            <a:spLocks noGrp="1"/>
          </p:cNvSpPr>
          <p:nvPr/>
        </p:nvSpPr>
        <p:spPr>
          <a:xfrm>
            <a:off x="1104900" y="4419600"/>
            <a:ext cx="419100" cy="4191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5FD5E03-1E90-480E-8B71-F160A41F6DFC}"/>
              </a:ext>
            </a:extLst>
          </p:cNvPr>
          <p:cNvSpPr>
            <a:spLocks noGrp="1"/>
          </p:cNvSpPr>
          <p:nvPr/>
        </p:nvSpPr>
        <p:spPr>
          <a:xfrm>
            <a:off x="1104900" y="450532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6898F5A-9CB7-4E57-80CA-E7D3FBE80639}"/>
              </a:ext>
            </a:extLst>
          </p:cNvPr>
          <p:cNvSpPr>
            <a:spLocks noGrp="1"/>
          </p:cNvSpPr>
          <p:nvPr/>
        </p:nvSpPr>
        <p:spPr>
          <a:xfrm>
            <a:off x="1752600" y="447675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right YOLO model is chosen by hardware, latency, object size and license constraints.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265F5B-BD42-430C-9922-F97500D01FB7}"/>
              </a:ext>
            </a:extLst>
          </p:cNvPr>
          <p:cNvSpPr>
            <a:spLocks noGrp="1"/>
          </p:cNvSpPr>
          <p:nvPr/>
        </p:nvSpPr>
        <p:spPr>
          <a:xfrm>
            <a:off x="1752600" y="5467350"/>
            <a:ext cx="4629150" cy="304800"/>
          </a:xfrm>
          <a:prstGeom prst="rect">
            <a:avLst/>
          </a:prstGeom>
          <a:solidFill>
            <a:srgbClr val="1E2A34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3A8097A-EEE9-4948-825F-296AB7916E6C}"/>
              </a:ext>
            </a:extLst>
          </p:cNvPr>
          <p:cNvSpPr>
            <a:spLocks noGrp="1"/>
          </p:cNvSpPr>
          <p:nvPr/>
        </p:nvSpPr>
        <p:spPr>
          <a:xfrm>
            <a:off x="1866900" y="5524500"/>
            <a:ext cx="440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Suggested discussion: compare YOLO26 with DETR-style end-to-end detectors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ADAF365-F992-4ED6-A74D-572C4AA6A4FB}"/>
              </a:ext>
            </a:extLst>
          </p:cNvPr>
          <p:cNvSpPr>
            <a:spLocks noGrp="1"/>
          </p:cNvSpPr>
          <p:nvPr/>
        </p:nvSpPr>
        <p:spPr>
          <a:xfrm>
            <a:off x="6724650" y="5486400"/>
            <a:ext cx="3448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D1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D6"/>
                </a:solidFill>
                <a:latin typeface="Aptos"/>
                <a:ea typeface="Aptos"/>
                <a:cs typeface="Aptos"/>
              </a:rPr>
              <a:t>Close by emphasizing the engineering question: what accuracy is enough, at what latency, on which device?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8BA1EE7-9A52-4EDC-8AE1-FE92A031DBD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Deck sources: Redmon et al. 2015; Bochkovskiy et al. 2020; Wang et al. 2023; Wang et al. 2024; Ultralytics YOLO26 docs.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0805719-5318-4613-A438-3E6803F5108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3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808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32657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1454</Words>
  <Application>Microsoft Office PowerPoint</Application>
  <DocSecurity>0</DocSecurity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Matthias Duranti</cp:lastModifiedBy>
  <cp:revision>1</cp:revision>
  <dcterms:created xsi:type="dcterms:W3CDTF">2026-05-18T14:18:41Z</dcterms:created>
  <dcterms:modified xsi:type="dcterms:W3CDTF">2026-05-18T14:40:59Z</dcterms:modified>
</cp:coreProperties>
</file>